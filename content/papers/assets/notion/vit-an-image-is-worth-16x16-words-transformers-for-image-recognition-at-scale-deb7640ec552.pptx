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6" r:id="rId1"/>
  </p:sldMasterIdLst>
  <p:notesMasterIdLst>
    <p:notesMasterId r:id="rId32"/>
  </p:notesMasterIdLst>
  <p:handoutMasterIdLst>
    <p:handoutMasterId r:id="rId33"/>
  </p:handoutMasterIdLst>
  <p:sldIdLst>
    <p:sldId id="2075" r:id="rId2"/>
    <p:sldId id="2131" r:id="rId3"/>
    <p:sldId id="2127" r:id="rId4"/>
    <p:sldId id="2126" r:id="rId5"/>
    <p:sldId id="2106" r:id="rId6"/>
    <p:sldId id="2163" r:id="rId7"/>
    <p:sldId id="2165" r:id="rId8"/>
    <p:sldId id="2141" r:id="rId9"/>
    <p:sldId id="2164" r:id="rId10"/>
    <p:sldId id="2133" r:id="rId11"/>
    <p:sldId id="2142" r:id="rId12"/>
    <p:sldId id="2143" r:id="rId13"/>
    <p:sldId id="2144" r:id="rId14"/>
    <p:sldId id="2146" r:id="rId15"/>
    <p:sldId id="2135" r:id="rId16"/>
    <p:sldId id="2136" r:id="rId17"/>
    <p:sldId id="2150" r:id="rId18"/>
    <p:sldId id="2153" r:id="rId19"/>
    <p:sldId id="2154" r:id="rId20"/>
    <p:sldId id="2155" r:id="rId21"/>
    <p:sldId id="2137" r:id="rId22"/>
    <p:sldId id="2172" r:id="rId23"/>
    <p:sldId id="2171" r:id="rId24"/>
    <p:sldId id="2166" r:id="rId25"/>
    <p:sldId id="2173" r:id="rId26"/>
    <p:sldId id="2174" r:id="rId27"/>
    <p:sldId id="2157" r:id="rId28"/>
    <p:sldId id="2168" r:id="rId29"/>
    <p:sldId id="2159" r:id="rId30"/>
    <p:sldId id="261" r:id="rId31"/>
  </p:sldIdLst>
  <p:sldSz cx="12192000" cy="6858000"/>
  <p:notesSz cx="6858000" cy="9144000"/>
  <p:embeddedFontLst>
    <p:embeddedFont>
      <p:font typeface="Spoqa Han Sans Neo" panose="020B0600000101010101" charset="-127"/>
      <p:regular r:id="rId34"/>
    </p:embeddedFont>
    <p:embeddedFont>
      <p:font typeface="Spoqa Han Sans Neo Bold" panose="020B0600000101010101" charset="-127"/>
      <p:bold r:id="rId35"/>
    </p:embeddedFont>
    <p:embeddedFont>
      <p:font typeface="맑은 고딕" panose="020B0503020000020004" pitchFamily="50" charset="-127"/>
      <p:regular r:id="rId36"/>
      <p:bold r:id="rId37"/>
    </p:embeddedFont>
    <p:embeddedFont>
      <p:font typeface="Campton-Book" panose="00000500000000000000" charset="0"/>
      <p:regular r:id="rId3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9CE2"/>
    <a:srgbClr val="3BABFF"/>
    <a:srgbClr val="164ABE"/>
    <a:srgbClr val="FFE953"/>
    <a:srgbClr val="151F6A"/>
    <a:srgbClr val="ADADAD"/>
    <a:srgbClr val="797A7C"/>
    <a:srgbClr val="D9D9D9"/>
    <a:srgbClr val="FFFFFF"/>
    <a:srgbClr val="BBBDBF"/>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13" autoAdjust="0"/>
    <p:restoredTop sz="93609" autoAdjust="0"/>
  </p:normalViewPr>
  <p:slideViewPr>
    <p:cSldViewPr snapToGrid="0">
      <p:cViewPr varScale="1">
        <p:scale>
          <a:sx n="110" d="100"/>
          <a:sy n="110" d="100"/>
        </p:scale>
        <p:origin x="882"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6AF58DA-9DB8-C31C-2D78-7681A8AA00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C2B59139-1149-3F07-581D-93E0EDCC0E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16D91B-DF77-4B22-B999-FF5D0E566918}" type="datetimeFigureOut">
              <a:rPr lang="ko-KR" altLang="en-US" smtClean="0"/>
              <a:t>2022-12-15</a:t>
            </a:fld>
            <a:endParaRPr lang="ko-KR" altLang="en-US"/>
          </a:p>
        </p:txBody>
      </p:sp>
      <p:sp>
        <p:nvSpPr>
          <p:cNvPr id="4" name="바닥글 개체 틀 3">
            <a:extLst>
              <a:ext uri="{FF2B5EF4-FFF2-40B4-BE49-F238E27FC236}">
                <a16:creationId xmlns:a16="http://schemas.microsoft.com/office/drawing/2014/main" id="{201549B4-2B3A-12A0-7F5B-1920F0270E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45A40E2E-5372-2E2E-B5E1-901085C431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C0809A-F974-4F97-B518-2B52384348B4}" type="slidenum">
              <a:rPr lang="ko-KR" altLang="en-US" smtClean="0"/>
              <a:t>‹#›</a:t>
            </a:fld>
            <a:endParaRPr lang="ko-KR" altLang="en-US"/>
          </a:p>
        </p:txBody>
      </p:sp>
    </p:spTree>
    <p:extLst>
      <p:ext uri="{BB962C8B-B14F-4D97-AF65-F5344CB8AC3E}">
        <p14:creationId xmlns:p14="http://schemas.microsoft.com/office/powerpoint/2010/main" val="38571364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618F1E-A2CB-4FBC-B4E2-9DA04A8A9568}" type="datetimeFigureOut">
              <a:rPr lang="ko-KR" altLang="en-US" smtClean="0"/>
              <a:t>2022-12-15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10A77-67CF-465C-A9A6-7B31CD0CC219}" type="slidenum">
              <a:rPr lang="ko-KR" altLang="en-US" smtClean="0"/>
              <a:t>‹#›</a:t>
            </a:fld>
            <a:endParaRPr lang="ko-KR" altLang="en-US"/>
          </a:p>
        </p:txBody>
      </p:sp>
    </p:spTree>
    <p:extLst>
      <p:ext uri="{BB962C8B-B14F-4D97-AF65-F5344CB8AC3E}">
        <p14:creationId xmlns:p14="http://schemas.microsoft.com/office/powerpoint/2010/main" val="356619471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a:t>
            </a:fld>
            <a:endParaRPr lang="ko-KR" altLang="en-US"/>
          </a:p>
        </p:txBody>
      </p:sp>
    </p:spTree>
    <p:extLst>
      <p:ext uri="{BB962C8B-B14F-4D97-AF65-F5344CB8AC3E}">
        <p14:creationId xmlns:p14="http://schemas.microsoft.com/office/powerpoint/2010/main" val="3687866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3</a:t>
            </a:fld>
            <a:endParaRPr lang="ko-KR" altLang="en-US"/>
          </a:p>
        </p:txBody>
      </p:sp>
    </p:spTree>
    <p:extLst>
      <p:ext uri="{BB962C8B-B14F-4D97-AF65-F5344CB8AC3E}">
        <p14:creationId xmlns:p14="http://schemas.microsoft.com/office/powerpoint/2010/main" val="3811695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4</a:t>
            </a:fld>
            <a:endParaRPr lang="ko-KR" altLang="en-US"/>
          </a:p>
        </p:txBody>
      </p:sp>
    </p:spTree>
    <p:extLst>
      <p:ext uri="{BB962C8B-B14F-4D97-AF65-F5344CB8AC3E}">
        <p14:creationId xmlns:p14="http://schemas.microsoft.com/office/powerpoint/2010/main" val="3415131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5</a:t>
            </a:fld>
            <a:endParaRPr lang="ko-KR" altLang="en-US"/>
          </a:p>
        </p:txBody>
      </p:sp>
    </p:spTree>
    <p:extLst>
      <p:ext uri="{BB962C8B-B14F-4D97-AF65-F5344CB8AC3E}">
        <p14:creationId xmlns:p14="http://schemas.microsoft.com/office/powerpoint/2010/main" val="3510815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6</a:t>
            </a:fld>
            <a:endParaRPr lang="ko-KR" altLang="en-US"/>
          </a:p>
        </p:txBody>
      </p:sp>
    </p:spTree>
    <p:extLst>
      <p:ext uri="{BB962C8B-B14F-4D97-AF65-F5344CB8AC3E}">
        <p14:creationId xmlns:p14="http://schemas.microsoft.com/office/powerpoint/2010/main" val="218737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7</a:t>
            </a:fld>
            <a:endParaRPr lang="ko-KR" altLang="en-US"/>
          </a:p>
        </p:txBody>
      </p:sp>
    </p:spTree>
    <p:extLst>
      <p:ext uri="{BB962C8B-B14F-4D97-AF65-F5344CB8AC3E}">
        <p14:creationId xmlns:p14="http://schemas.microsoft.com/office/powerpoint/2010/main" val="1341547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8</a:t>
            </a:fld>
            <a:endParaRPr lang="ko-KR" altLang="en-US"/>
          </a:p>
        </p:txBody>
      </p:sp>
    </p:spTree>
    <p:extLst>
      <p:ext uri="{BB962C8B-B14F-4D97-AF65-F5344CB8AC3E}">
        <p14:creationId xmlns:p14="http://schemas.microsoft.com/office/powerpoint/2010/main" val="1883147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9</a:t>
            </a:fld>
            <a:endParaRPr lang="ko-KR" altLang="en-US"/>
          </a:p>
        </p:txBody>
      </p:sp>
    </p:spTree>
    <p:extLst>
      <p:ext uri="{BB962C8B-B14F-4D97-AF65-F5344CB8AC3E}">
        <p14:creationId xmlns:p14="http://schemas.microsoft.com/office/powerpoint/2010/main" val="3345402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10</a:t>
            </a:fld>
            <a:endParaRPr lang="ko-KR" altLang="en-US"/>
          </a:p>
        </p:txBody>
      </p:sp>
    </p:spTree>
    <p:extLst>
      <p:ext uri="{BB962C8B-B14F-4D97-AF65-F5344CB8AC3E}">
        <p14:creationId xmlns:p14="http://schemas.microsoft.com/office/powerpoint/2010/main" val="1797192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11</a:t>
            </a:fld>
            <a:endParaRPr lang="ko-KR" altLang="en-US"/>
          </a:p>
        </p:txBody>
      </p:sp>
    </p:spTree>
    <p:extLst>
      <p:ext uri="{BB962C8B-B14F-4D97-AF65-F5344CB8AC3E}">
        <p14:creationId xmlns:p14="http://schemas.microsoft.com/office/powerpoint/2010/main" val="2697773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12</a:t>
            </a:fld>
            <a:endParaRPr lang="ko-KR" altLang="en-US"/>
          </a:p>
        </p:txBody>
      </p:sp>
    </p:spTree>
    <p:extLst>
      <p:ext uri="{BB962C8B-B14F-4D97-AF65-F5344CB8AC3E}">
        <p14:creationId xmlns:p14="http://schemas.microsoft.com/office/powerpoint/2010/main" val="848527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13</a:t>
            </a:fld>
            <a:endParaRPr lang="ko-KR" altLang="en-US"/>
          </a:p>
        </p:txBody>
      </p:sp>
    </p:spTree>
    <p:extLst>
      <p:ext uri="{BB962C8B-B14F-4D97-AF65-F5344CB8AC3E}">
        <p14:creationId xmlns:p14="http://schemas.microsoft.com/office/powerpoint/2010/main" val="1787740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14</a:t>
            </a:fld>
            <a:endParaRPr lang="ko-KR" altLang="en-US"/>
          </a:p>
        </p:txBody>
      </p:sp>
    </p:spTree>
    <p:extLst>
      <p:ext uri="{BB962C8B-B14F-4D97-AF65-F5344CB8AC3E}">
        <p14:creationId xmlns:p14="http://schemas.microsoft.com/office/powerpoint/2010/main" val="677682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15</a:t>
            </a:fld>
            <a:endParaRPr lang="ko-KR" altLang="en-US"/>
          </a:p>
        </p:txBody>
      </p:sp>
    </p:spTree>
    <p:extLst>
      <p:ext uri="{BB962C8B-B14F-4D97-AF65-F5344CB8AC3E}">
        <p14:creationId xmlns:p14="http://schemas.microsoft.com/office/powerpoint/2010/main" val="3578153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16</a:t>
            </a:fld>
            <a:endParaRPr lang="ko-KR" altLang="en-US"/>
          </a:p>
        </p:txBody>
      </p:sp>
    </p:spTree>
    <p:extLst>
      <p:ext uri="{BB962C8B-B14F-4D97-AF65-F5344CB8AC3E}">
        <p14:creationId xmlns:p14="http://schemas.microsoft.com/office/powerpoint/2010/main" val="198212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17</a:t>
            </a:fld>
            <a:endParaRPr lang="ko-KR" altLang="en-US"/>
          </a:p>
        </p:txBody>
      </p:sp>
    </p:spTree>
    <p:extLst>
      <p:ext uri="{BB962C8B-B14F-4D97-AF65-F5344CB8AC3E}">
        <p14:creationId xmlns:p14="http://schemas.microsoft.com/office/powerpoint/2010/main" val="3344044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18</a:t>
            </a:fld>
            <a:endParaRPr lang="ko-KR" altLang="en-US"/>
          </a:p>
        </p:txBody>
      </p:sp>
    </p:spTree>
    <p:extLst>
      <p:ext uri="{BB962C8B-B14F-4D97-AF65-F5344CB8AC3E}">
        <p14:creationId xmlns:p14="http://schemas.microsoft.com/office/powerpoint/2010/main" val="2190615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19</a:t>
            </a:fld>
            <a:endParaRPr lang="ko-KR" altLang="en-US"/>
          </a:p>
        </p:txBody>
      </p:sp>
    </p:spTree>
    <p:extLst>
      <p:ext uri="{BB962C8B-B14F-4D97-AF65-F5344CB8AC3E}">
        <p14:creationId xmlns:p14="http://schemas.microsoft.com/office/powerpoint/2010/main" val="515712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20</a:t>
            </a:fld>
            <a:endParaRPr lang="ko-KR" altLang="en-US"/>
          </a:p>
        </p:txBody>
      </p:sp>
    </p:spTree>
    <p:extLst>
      <p:ext uri="{BB962C8B-B14F-4D97-AF65-F5344CB8AC3E}">
        <p14:creationId xmlns:p14="http://schemas.microsoft.com/office/powerpoint/2010/main" val="3823150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21</a:t>
            </a:fld>
            <a:endParaRPr lang="ko-KR" altLang="en-US"/>
          </a:p>
        </p:txBody>
      </p:sp>
    </p:spTree>
    <p:extLst>
      <p:ext uri="{BB962C8B-B14F-4D97-AF65-F5344CB8AC3E}">
        <p14:creationId xmlns:p14="http://schemas.microsoft.com/office/powerpoint/2010/main" val="350523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22</a:t>
            </a:fld>
            <a:endParaRPr lang="ko-KR" altLang="en-US"/>
          </a:p>
        </p:txBody>
      </p:sp>
    </p:spTree>
    <p:extLst>
      <p:ext uri="{BB962C8B-B14F-4D97-AF65-F5344CB8AC3E}">
        <p14:creationId xmlns:p14="http://schemas.microsoft.com/office/powerpoint/2010/main" val="1045798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23</a:t>
            </a:fld>
            <a:endParaRPr lang="ko-KR" altLang="en-US"/>
          </a:p>
        </p:txBody>
      </p:sp>
    </p:spTree>
    <p:extLst>
      <p:ext uri="{BB962C8B-B14F-4D97-AF65-F5344CB8AC3E}">
        <p14:creationId xmlns:p14="http://schemas.microsoft.com/office/powerpoint/2010/main" val="2523822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24</a:t>
            </a:fld>
            <a:endParaRPr lang="ko-KR" altLang="en-US"/>
          </a:p>
        </p:txBody>
      </p:sp>
    </p:spTree>
    <p:extLst>
      <p:ext uri="{BB962C8B-B14F-4D97-AF65-F5344CB8AC3E}">
        <p14:creationId xmlns:p14="http://schemas.microsoft.com/office/powerpoint/2010/main" val="3296130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25</a:t>
            </a:fld>
            <a:endParaRPr lang="ko-KR" altLang="en-US"/>
          </a:p>
        </p:txBody>
      </p:sp>
    </p:spTree>
    <p:extLst>
      <p:ext uri="{BB962C8B-B14F-4D97-AF65-F5344CB8AC3E}">
        <p14:creationId xmlns:p14="http://schemas.microsoft.com/office/powerpoint/2010/main" val="526643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26</a:t>
            </a:fld>
            <a:endParaRPr lang="ko-KR" altLang="en-US"/>
          </a:p>
        </p:txBody>
      </p:sp>
    </p:spTree>
    <p:extLst>
      <p:ext uri="{BB962C8B-B14F-4D97-AF65-F5344CB8AC3E}">
        <p14:creationId xmlns:p14="http://schemas.microsoft.com/office/powerpoint/2010/main" val="41505930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27</a:t>
            </a:fld>
            <a:endParaRPr lang="ko-KR" altLang="en-US"/>
          </a:p>
        </p:txBody>
      </p:sp>
    </p:spTree>
    <p:extLst>
      <p:ext uri="{BB962C8B-B14F-4D97-AF65-F5344CB8AC3E}">
        <p14:creationId xmlns:p14="http://schemas.microsoft.com/office/powerpoint/2010/main" val="1700455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28</a:t>
            </a:fld>
            <a:endParaRPr lang="ko-KR" altLang="en-US"/>
          </a:p>
        </p:txBody>
      </p:sp>
    </p:spTree>
    <p:extLst>
      <p:ext uri="{BB962C8B-B14F-4D97-AF65-F5344CB8AC3E}">
        <p14:creationId xmlns:p14="http://schemas.microsoft.com/office/powerpoint/2010/main" val="1915957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x-none" altLang="en-US"/>
              <a:t>특히</a:t>
            </a:r>
            <a:r>
              <a:rPr kumimoji="1" lang="en-US" altLang="x-none"/>
              <a:t>,</a:t>
            </a:r>
            <a:r>
              <a:rPr kumimoji="1" lang="ko-KR" altLang="en-US"/>
              <a:t> 멀티 </a:t>
            </a:r>
            <a:r>
              <a:rPr kumimoji="1" lang="en-US" altLang="ko-KR"/>
              <a:t>GPU </a:t>
            </a:r>
            <a:r>
              <a:rPr kumimoji="1" lang="ko-KR" altLang="en-US"/>
              <a:t>분산 학습 환경구성부터 결과 얻기까지 최대 </a:t>
            </a:r>
            <a:r>
              <a:rPr kumimoji="1" lang="en-US" altLang="ko-KR"/>
              <a:t>68%</a:t>
            </a:r>
            <a:r>
              <a:rPr kumimoji="1" lang="ko-KR" altLang="en-US"/>
              <a:t> 빠르게 수행할 수 있는 강점이 있습니다</a:t>
            </a:r>
            <a:r>
              <a:rPr kumimoji="1" lang="en-US" altLang="ko-KR"/>
              <a:t>.</a:t>
            </a:r>
            <a:r>
              <a:rPr kumimoji="1" lang="ko-KR" altLang="en-US"/>
              <a:t> </a:t>
            </a:r>
            <a:endParaRPr kumimoji="1" lang="x-none" altLang="en-US"/>
          </a:p>
          <a:p>
            <a:endParaRPr lang="ko-KR" altLang="en-US"/>
          </a:p>
        </p:txBody>
      </p:sp>
      <p:sp>
        <p:nvSpPr>
          <p:cNvPr id="4" name="슬라이드 번호 개체 틀 3"/>
          <p:cNvSpPr>
            <a:spLocks noGrp="1"/>
          </p:cNvSpPr>
          <p:nvPr>
            <p:ph type="sldNum" sz="quarter" idx="5"/>
          </p:nvPr>
        </p:nvSpPr>
        <p:spPr/>
        <p:txBody>
          <a:bodyPr/>
          <a:lstStyle/>
          <a:p>
            <a:fld id="{62410A77-67CF-465C-A9A6-7B31CD0CC219}" type="slidenum">
              <a:rPr lang="ko-KR" altLang="en-US" smtClean="0"/>
              <a:t>29</a:t>
            </a:fld>
            <a:endParaRPr lang="ko-KR" altLang="en-US"/>
          </a:p>
        </p:txBody>
      </p:sp>
    </p:spTree>
    <p:extLst>
      <p:ext uri="{BB962C8B-B14F-4D97-AF65-F5344CB8AC3E}">
        <p14:creationId xmlns:p14="http://schemas.microsoft.com/office/powerpoint/2010/main" val="34483032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jpg"/><Relationship Id="rId7"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ub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F5845BC5-24FD-9BF8-2FAF-002BF110A2A3}"/>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12" name="그래픽 2">
            <a:extLst>
              <a:ext uri="{FF2B5EF4-FFF2-40B4-BE49-F238E27FC236}">
                <a16:creationId xmlns:a16="http://schemas.microsoft.com/office/drawing/2014/main" id="{3A6B3CEB-6EEA-0119-316B-B27C06871A2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3990" y="6011941"/>
            <a:ext cx="840543" cy="129546"/>
          </a:xfrm>
          <a:prstGeom prst="rect">
            <a:avLst/>
          </a:prstGeom>
        </p:spPr>
      </p:pic>
    </p:spTree>
    <p:extLst>
      <p:ext uri="{BB962C8B-B14F-4D97-AF65-F5344CB8AC3E}">
        <p14:creationId xmlns:p14="http://schemas.microsoft.com/office/powerpoint/2010/main" val="992316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ub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249AC84A-5C59-A4C0-2B22-3553D2392DC7}"/>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3" name="그래픽 2">
            <a:extLst>
              <a:ext uri="{FF2B5EF4-FFF2-40B4-BE49-F238E27FC236}">
                <a16:creationId xmlns:a16="http://schemas.microsoft.com/office/drawing/2014/main" id="{3A6B3CEB-6EEA-0119-316B-B27C06871A2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3990" y="6011941"/>
            <a:ext cx="840543" cy="129546"/>
          </a:xfrm>
          <a:prstGeom prst="rect">
            <a:avLst/>
          </a:prstGeom>
        </p:spPr>
      </p:pic>
    </p:spTree>
    <p:extLst>
      <p:ext uri="{BB962C8B-B14F-4D97-AF65-F5344CB8AC3E}">
        <p14:creationId xmlns:p14="http://schemas.microsoft.com/office/powerpoint/2010/main" val="168146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ver" preserve="1">
  <p:cSld name="Cover">
    <p:bg>
      <p:bgPr>
        <a:blipFill>
          <a:blip r:embed="rId2" cstate="email">
            <a:alphaModFix/>
            <a:extLst>
              <a:ext uri="{28A0092B-C50C-407E-A947-70E740481C1C}">
                <a14:useLocalDpi xmlns:a14="http://schemas.microsoft.com/office/drawing/2010/main"/>
              </a:ext>
            </a:extLst>
          </a:blip>
          <a:stretch>
            <a:fillRect/>
          </a:stretch>
        </a:blipFill>
        <a:effectLst/>
      </p:bgPr>
    </p:bg>
    <p:spTree>
      <p:nvGrpSpPr>
        <p:cNvPr id="1" name="Shape 10"/>
        <p:cNvGrpSpPr/>
        <p:nvPr/>
      </p:nvGrpSpPr>
      <p:grpSpPr>
        <a:xfrm>
          <a:off x="0" y="0"/>
          <a:ext cx="0" cy="0"/>
          <a:chOff x="0" y="0"/>
          <a:chExt cx="0" cy="0"/>
        </a:xfrm>
      </p:grpSpPr>
      <p:pic>
        <p:nvPicPr>
          <p:cNvPr id="4" name="그림 3">
            <a:extLst>
              <a:ext uri="{FF2B5EF4-FFF2-40B4-BE49-F238E27FC236}">
                <a16:creationId xmlns:a16="http://schemas.microsoft.com/office/drawing/2014/main" id="{8F3F9458-3D21-6F8F-A008-AA71968BC39B}"/>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3" name="그래픽 2">
            <a:extLst>
              <a:ext uri="{FF2B5EF4-FFF2-40B4-BE49-F238E27FC236}">
                <a16:creationId xmlns:a16="http://schemas.microsoft.com/office/drawing/2014/main" id="{6A36C476-8A2C-C62F-CBE9-6F4E9FDA68F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3990" y="6011941"/>
            <a:ext cx="840543" cy="129546"/>
          </a:xfrm>
          <a:prstGeom prst="rect">
            <a:avLst/>
          </a:prstGeom>
        </p:spPr>
      </p:pic>
    </p:spTree>
    <p:extLst>
      <p:ext uri="{BB962C8B-B14F-4D97-AF65-F5344CB8AC3E}">
        <p14:creationId xmlns:p14="http://schemas.microsoft.com/office/powerpoint/2010/main" val="46952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892632-1D5E-40D9-B165-318BC0374AB3}"/>
              </a:ext>
            </a:extLst>
          </p:cNvPr>
          <p:cNvSpPr txBox="1"/>
          <p:nvPr userDrawn="1"/>
        </p:nvSpPr>
        <p:spPr>
          <a:xfrm>
            <a:off x="8701088" y="6577347"/>
            <a:ext cx="3238500" cy="200055"/>
          </a:xfrm>
          <a:prstGeom prst="rect">
            <a:avLst/>
          </a:prstGeom>
          <a:noFill/>
        </p:spPr>
        <p:txBody>
          <a:bodyPr wrap="square">
            <a:spAutoFit/>
          </a:bodyPr>
          <a:lstStyle/>
          <a:p>
            <a:r>
              <a:rPr lang="en-US" altLang="ko-KR" sz="700">
                <a:solidFill>
                  <a:schemeClr val="bg1">
                    <a:lumMod val="65000"/>
                  </a:schemeClr>
                </a:solidFill>
                <a:latin typeface="Campton-Book" panose="00000500000000000000" pitchFamily="2" charset="0"/>
              </a:rPr>
              <a:t>Copyright 2022 </a:t>
            </a:r>
            <a:r>
              <a:rPr lang="en-US" altLang="ko-KR" sz="700" dirty="0">
                <a:solidFill>
                  <a:schemeClr val="bg1">
                    <a:lumMod val="65000"/>
                  </a:schemeClr>
                </a:solidFill>
                <a:latin typeface="Campton-Book" panose="00000500000000000000" pitchFamily="2" charset="0"/>
              </a:rPr>
              <a:t>Acryl All rights reserved.  |   </a:t>
            </a:r>
            <a:r>
              <a:rPr lang="en-US" altLang="ko-KR" sz="700" dirty="0">
                <a:solidFill>
                  <a:srgbClr val="151F6A"/>
                </a:solidFill>
                <a:latin typeface="Campton-Book" panose="00000500000000000000" pitchFamily="2" charset="0"/>
              </a:rPr>
              <a:t>STRICTLY CONFIDENTIAL </a:t>
            </a:r>
            <a:endParaRPr lang="ko-KR" altLang="en-US" sz="700" dirty="0">
              <a:latin typeface="Campton-Book" panose="00000500000000000000" pitchFamily="2" charset="0"/>
            </a:endParaRPr>
          </a:p>
        </p:txBody>
      </p:sp>
      <p:sp>
        <p:nvSpPr>
          <p:cNvPr id="4" name="슬라이드 번호 개체 틀 3">
            <a:extLst>
              <a:ext uri="{FF2B5EF4-FFF2-40B4-BE49-F238E27FC236}">
                <a16:creationId xmlns:a16="http://schemas.microsoft.com/office/drawing/2014/main" id="{A81CD73C-8CA0-4CC1-BF26-6F60C9EE08E9}"/>
              </a:ext>
            </a:extLst>
          </p:cNvPr>
          <p:cNvSpPr>
            <a:spLocks noGrp="1"/>
          </p:cNvSpPr>
          <p:nvPr>
            <p:ph type="sldNum" sz="quarter" idx="12"/>
          </p:nvPr>
        </p:nvSpPr>
        <p:spPr>
          <a:xfrm>
            <a:off x="11825288" y="6577347"/>
            <a:ext cx="307030" cy="152400"/>
          </a:xfrm>
          <a:prstGeom prst="rect">
            <a:avLst/>
          </a:prstGeom>
        </p:spPr>
        <p:txBody>
          <a:bodyPr/>
          <a:lstStyle>
            <a:lvl1pPr algn="r">
              <a:defRPr sz="700">
                <a:solidFill>
                  <a:schemeClr val="bg1">
                    <a:lumMod val="65000"/>
                  </a:schemeClr>
                </a:solidFill>
                <a:latin typeface="Campton-Book" panose="00000500000000000000" pitchFamily="2" charset="0"/>
              </a:defRPr>
            </a:lvl1pPr>
          </a:lstStyle>
          <a:p>
            <a:fld id="{01EC8151-EB5C-441C-BB12-082644A0AB3E}" type="slidenum">
              <a:rPr lang="ko-KR" altLang="en-US" smtClean="0"/>
              <a:pPr/>
              <a:t>‹#›</a:t>
            </a:fld>
            <a:endParaRPr lang="ko-KR" altLang="en-US" dirty="0"/>
          </a:p>
        </p:txBody>
      </p:sp>
    </p:spTree>
    <p:extLst>
      <p:ext uri="{BB962C8B-B14F-4D97-AF65-F5344CB8AC3E}">
        <p14:creationId xmlns:p14="http://schemas.microsoft.com/office/powerpoint/2010/main" val="2033835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98F77FBB-CBF5-6F9F-79D1-7F1162A43D1B}"/>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75014CC4-C569-9CB8-1216-D3F77F67282A}"/>
              </a:ext>
            </a:extLst>
          </p:cNvPr>
          <p:cNvSpPr txBox="1"/>
          <p:nvPr userDrawn="1"/>
        </p:nvSpPr>
        <p:spPr>
          <a:xfrm>
            <a:off x="881321" y="4427498"/>
            <a:ext cx="4499950" cy="954107"/>
          </a:xfrm>
          <a:prstGeom prst="rect">
            <a:avLst/>
          </a:prstGeom>
          <a:noFill/>
        </p:spPr>
        <p:txBody>
          <a:bodyPr wrap="none" rtlCol="0">
            <a:spAutoFit/>
          </a:bodyPr>
          <a:lstStyle/>
          <a:p>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Tel (+82)2-557-4958</a:t>
            </a:r>
          </a:p>
          <a:p>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Fax (+82)2-558-4958</a:t>
            </a:r>
          </a:p>
          <a:p>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E-mail support@acryl.ai</a:t>
            </a:r>
          </a:p>
          <a:p>
            <a:endParaRPr lang="en-US" altLang="ko-KR" sz="800" dirty="0">
              <a:solidFill>
                <a:schemeClr val="bg1">
                  <a:alpha val="70000"/>
                </a:schemeClr>
              </a:solidFill>
              <a:latin typeface="Spoqa Han Sans Neo" panose="020B0500000000000000" pitchFamily="34" charset="-127"/>
              <a:ea typeface="Spoqa Han Sans Neo" panose="020B0500000000000000" pitchFamily="34" charset="-127"/>
            </a:endParaRPr>
          </a:p>
          <a:p>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facebook.com/</a:t>
            </a:r>
            <a:r>
              <a:rPr lang="en-US" altLang="ko-KR" sz="800" dirty="0" err="1">
                <a:solidFill>
                  <a:schemeClr val="bg1">
                    <a:alpha val="70000"/>
                  </a:schemeClr>
                </a:solidFill>
                <a:latin typeface="Spoqa Han Sans Neo" panose="020B0500000000000000" pitchFamily="34" charset="-127"/>
                <a:ea typeface="Spoqa Han Sans Neo" panose="020B0500000000000000" pitchFamily="34" charset="-127"/>
              </a:rPr>
              <a:t>iacryl</a:t>
            </a: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youtube.com/acryl              </a:t>
            </a:r>
            <a:r>
              <a:rPr lang="en-US" altLang="ko-KR" sz="800" dirty="0" err="1">
                <a:solidFill>
                  <a:schemeClr val="bg1">
                    <a:alpha val="70000"/>
                  </a:schemeClr>
                </a:solidFill>
                <a:latin typeface="Spoqa Han Sans Neo" panose="020B0500000000000000" pitchFamily="34" charset="-127"/>
                <a:ea typeface="Spoqa Han Sans Neo" panose="020B0500000000000000" pitchFamily="34" charset="-127"/>
              </a:rPr>
              <a:t>i_acryl</a:t>
            </a: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acryl.ai</a:t>
            </a:r>
          </a:p>
          <a:p>
            <a:b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b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11F, </a:t>
            </a:r>
            <a:r>
              <a:rPr lang="en-US" altLang="ko-KR" sz="800" dirty="0" err="1">
                <a:solidFill>
                  <a:schemeClr val="bg1">
                    <a:alpha val="70000"/>
                  </a:schemeClr>
                </a:solidFill>
                <a:latin typeface="Spoqa Han Sans Neo" panose="020B0500000000000000" pitchFamily="34" charset="-127"/>
                <a:ea typeface="Spoqa Han Sans Neo" panose="020B0500000000000000" pitchFamily="34" charset="-127"/>
              </a:rPr>
              <a:t>Cheongdam</a:t>
            </a: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Building, 704, </a:t>
            </a:r>
            <a:r>
              <a:rPr lang="en-US" altLang="ko-KR" sz="800" dirty="0" err="1">
                <a:solidFill>
                  <a:schemeClr val="bg1">
                    <a:alpha val="70000"/>
                  </a:schemeClr>
                </a:solidFill>
                <a:latin typeface="Spoqa Han Sans Neo" panose="020B0500000000000000" pitchFamily="34" charset="-127"/>
                <a:ea typeface="Spoqa Han Sans Neo" panose="020B0500000000000000" pitchFamily="34" charset="-127"/>
              </a:rPr>
              <a:t>Seolleung-ro</a:t>
            </a: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Gangnam-</a:t>
            </a:r>
            <a:r>
              <a:rPr lang="en-US" altLang="ko-KR" sz="800" dirty="0" err="1">
                <a:solidFill>
                  <a:schemeClr val="bg1">
                    <a:alpha val="70000"/>
                  </a:schemeClr>
                </a:solidFill>
                <a:latin typeface="Spoqa Han Sans Neo" panose="020B0500000000000000" pitchFamily="34" charset="-127"/>
                <a:ea typeface="Spoqa Han Sans Neo" panose="020B0500000000000000" pitchFamily="34" charset="-127"/>
              </a:rPr>
              <a:t>gu</a:t>
            </a:r>
            <a:r>
              <a:rPr lang="en-US" altLang="ko-KR" sz="800" dirty="0">
                <a:solidFill>
                  <a:schemeClr val="bg1">
                    <a:alpha val="70000"/>
                  </a:schemeClr>
                </a:solidFill>
                <a:latin typeface="Spoqa Han Sans Neo" panose="020B0500000000000000" pitchFamily="34" charset="-127"/>
                <a:ea typeface="Spoqa Han Sans Neo" panose="020B0500000000000000" pitchFamily="34" charset="-127"/>
              </a:rPr>
              <a:t>, Seoul, Republic of Korea. 06069</a:t>
            </a:r>
          </a:p>
        </p:txBody>
      </p:sp>
      <p:pic>
        <p:nvPicPr>
          <p:cNvPr id="10" name="그림 9">
            <a:extLst>
              <a:ext uri="{FF2B5EF4-FFF2-40B4-BE49-F238E27FC236}">
                <a16:creationId xmlns:a16="http://schemas.microsoft.com/office/drawing/2014/main" id="{1EB0267F-BA2E-C28F-685C-2E585B231E38}"/>
              </a:ext>
            </a:extLst>
          </p:cNvPr>
          <p:cNvPicPr>
            <a:picLocks noChangeAspect="1"/>
          </p:cNvPicPr>
          <p:nvPr userDrawn="1"/>
        </p:nvPicPr>
        <p:blipFill>
          <a:blip r:embed="rId4" cstate="email">
            <a:alphaModFix amt="70000"/>
            <a:extLst>
              <a:ext uri="{28A0092B-C50C-407E-A947-70E740481C1C}">
                <a14:useLocalDpi xmlns:a14="http://schemas.microsoft.com/office/drawing/2010/main"/>
              </a:ext>
            </a:extLst>
          </a:blip>
          <a:stretch>
            <a:fillRect/>
          </a:stretch>
        </p:blipFill>
        <p:spPr>
          <a:xfrm>
            <a:off x="3463015" y="4987498"/>
            <a:ext cx="81268" cy="81268"/>
          </a:xfrm>
          <a:prstGeom prst="rect">
            <a:avLst/>
          </a:prstGeom>
        </p:spPr>
      </p:pic>
      <p:pic>
        <p:nvPicPr>
          <p:cNvPr id="11" name="그림 10">
            <a:extLst>
              <a:ext uri="{FF2B5EF4-FFF2-40B4-BE49-F238E27FC236}">
                <a16:creationId xmlns:a16="http://schemas.microsoft.com/office/drawing/2014/main" id="{7245F92E-7467-D044-8CD0-FA8CDF9825B3}"/>
              </a:ext>
            </a:extLst>
          </p:cNvPr>
          <p:cNvPicPr>
            <a:picLocks noChangeAspect="1"/>
          </p:cNvPicPr>
          <p:nvPr userDrawn="1"/>
        </p:nvPicPr>
        <p:blipFill>
          <a:blip r:embed="rId5" cstate="email">
            <a:alphaModFix amt="70000"/>
            <a:extLst>
              <a:ext uri="{28A0092B-C50C-407E-A947-70E740481C1C}">
                <a14:useLocalDpi xmlns:a14="http://schemas.microsoft.com/office/drawing/2010/main"/>
              </a:ext>
            </a:extLst>
          </a:blip>
          <a:stretch>
            <a:fillRect/>
          </a:stretch>
        </p:blipFill>
        <p:spPr>
          <a:xfrm>
            <a:off x="4069022" y="4982413"/>
            <a:ext cx="81170" cy="81268"/>
          </a:xfrm>
          <a:prstGeom prst="rect">
            <a:avLst/>
          </a:prstGeom>
        </p:spPr>
      </p:pic>
      <p:pic>
        <p:nvPicPr>
          <p:cNvPr id="12" name="그림 11">
            <a:extLst>
              <a:ext uri="{FF2B5EF4-FFF2-40B4-BE49-F238E27FC236}">
                <a16:creationId xmlns:a16="http://schemas.microsoft.com/office/drawing/2014/main" id="{1BCE6BB9-5CE6-D89E-96B9-05D7AED97D1D}"/>
              </a:ext>
            </a:extLst>
          </p:cNvPr>
          <p:cNvPicPr>
            <a:picLocks noChangeAspect="1"/>
          </p:cNvPicPr>
          <p:nvPr userDrawn="1"/>
        </p:nvPicPr>
        <p:blipFill>
          <a:blip r:embed="rId6" cstate="email">
            <a:alphaModFix amt="70000"/>
            <a:extLst>
              <a:ext uri="{28A0092B-C50C-407E-A947-70E740481C1C}">
                <a14:useLocalDpi xmlns:a14="http://schemas.microsoft.com/office/drawing/2010/main"/>
              </a:ext>
            </a:extLst>
          </a:blip>
          <a:stretch>
            <a:fillRect/>
          </a:stretch>
        </p:blipFill>
        <p:spPr>
          <a:xfrm>
            <a:off x="977808" y="4975963"/>
            <a:ext cx="81268" cy="81268"/>
          </a:xfrm>
          <a:prstGeom prst="rect">
            <a:avLst/>
          </a:prstGeom>
        </p:spPr>
      </p:pic>
      <p:sp>
        <p:nvSpPr>
          <p:cNvPr id="3" name="TextBox 2">
            <a:extLst>
              <a:ext uri="{FF2B5EF4-FFF2-40B4-BE49-F238E27FC236}">
                <a16:creationId xmlns:a16="http://schemas.microsoft.com/office/drawing/2014/main" id="{FE61B6BA-2EB7-4E12-2571-235974139EC2}"/>
              </a:ext>
            </a:extLst>
          </p:cNvPr>
          <p:cNvSpPr txBox="1"/>
          <p:nvPr userDrawn="1"/>
        </p:nvSpPr>
        <p:spPr>
          <a:xfrm>
            <a:off x="883273" y="4036945"/>
            <a:ext cx="1067921" cy="246221"/>
          </a:xfrm>
          <a:prstGeom prst="rect">
            <a:avLst/>
          </a:prstGeom>
          <a:noFill/>
        </p:spPr>
        <p:txBody>
          <a:bodyPr wrap="none" rtlCol="0">
            <a:spAutoFit/>
          </a:bodyPr>
          <a:lstStyle/>
          <a:p>
            <a:r>
              <a:rPr lang="en-US" altLang="ko-KR" sz="1000" dirty="0" err="1">
                <a:solidFill>
                  <a:srgbClr val="639CE2"/>
                </a:solidFill>
                <a:latin typeface="Spoqa Han Sans Neo" panose="020B0500000000000000" pitchFamily="34" charset="-127"/>
                <a:ea typeface="Spoqa Han Sans Neo" panose="020B0500000000000000" pitchFamily="34" charset="-127"/>
              </a:rPr>
              <a:t>Jin</a:t>
            </a:r>
            <a:r>
              <a:rPr lang="en-US" altLang="ko-KR" sz="1000" dirty="0">
                <a:solidFill>
                  <a:srgbClr val="639CE2"/>
                </a:solidFill>
                <a:latin typeface="Spoqa Han Sans Neo" panose="020B0500000000000000" pitchFamily="34" charset="-127"/>
                <a:ea typeface="Spoqa Han Sans Neo" panose="020B0500000000000000" pitchFamily="34" charset="-127"/>
              </a:rPr>
              <a:t> Park  l  CEO</a:t>
            </a:r>
          </a:p>
        </p:txBody>
      </p:sp>
      <p:pic>
        <p:nvPicPr>
          <p:cNvPr id="13" name="Picture 4" descr="statue of unity&#10;">
            <a:extLst>
              <a:ext uri="{FF2B5EF4-FFF2-40B4-BE49-F238E27FC236}">
                <a16:creationId xmlns:a16="http://schemas.microsoft.com/office/drawing/2014/main" id="{29557FE3-024A-B43F-7006-47629F7D593C}"/>
              </a:ext>
            </a:extLst>
          </p:cNvPr>
          <p:cNvPicPr>
            <a:picLocks noChangeAspect="1" noChangeArrowheads="1"/>
          </p:cNvPicPr>
          <p:nvPr userDrawn="1"/>
        </p:nvPicPr>
        <p:blipFill rotWithShape="1">
          <a:blip r:embed="rId7" cstate="email">
            <a:alphaModFix amt="70000"/>
            <a:extLst>
              <a:ext uri="{28A0092B-C50C-407E-A947-70E740481C1C}">
                <a14:useLocalDpi xmlns:a14="http://schemas.microsoft.com/office/drawing/2010/main"/>
              </a:ext>
            </a:extLst>
          </a:blip>
          <a:srcRect l="24344" t="29039" r="22002" b="35000"/>
          <a:stretch/>
        </p:blipFill>
        <p:spPr bwMode="auto">
          <a:xfrm>
            <a:off x="2255245" y="4994261"/>
            <a:ext cx="92869" cy="70272"/>
          </a:xfrm>
          <a:prstGeom prst="rect">
            <a:avLst/>
          </a:prstGeom>
          <a:noFill/>
          <a:extLst>
            <a:ext uri="{909E8E84-426E-40DD-AFC4-6F175D3DCCD1}">
              <a14:hiddenFill xmlns:a14="http://schemas.microsoft.com/office/drawing/2010/main">
                <a:solidFill>
                  <a:srgbClr val="FFFFFF"/>
                </a:solidFill>
              </a14:hiddenFill>
            </a:ext>
          </a:extLst>
        </p:spPr>
      </p:pic>
      <p:pic>
        <p:nvPicPr>
          <p:cNvPr id="14" name="그래픽 13">
            <a:extLst>
              <a:ext uri="{FF2B5EF4-FFF2-40B4-BE49-F238E27FC236}">
                <a16:creationId xmlns:a16="http://schemas.microsoft.com/office/drawing/2014/main" id="{0FFF471D-B031-34A7-138E-93E3B89ACFB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63175" y="2934466"/>
            <a:ext cx="954412" cy="891759"/>
          </a:xfrm>
          <a:prstGeom prst="rect">
            <a:avLst/>
          </a:prstGeom>
        </p:spPr>
      </p:pic>
      <p:sp>
        <p:nvSpPr>
          <p:cNvPr id="15" name="TextBox 14">
            <a:extLst>
              <a:ext uri="{FF2B5EF4-FFF2-40B4-BE49-F238E27FC236}">
                <a16:creationId xmlns:a16="http://schemas.microsoft.com/office/drawing/2014/main" id="{9D1DB3DF-F4E0-A1E5-42A7-7487C047838F}"/>
              </a:ext>
            </a:extLst>
          </p:cNvPr>
          <p:cNvSpPr txBox="1"/>
          <p:nvPr userDrawn="1"/>
        </p:nvSpPr>
        <p:spPr>
          <a:xfrm>
            <a:off x="839349" y="5424048"/>
            <a:ext cx="9915136" cy="830997"/>
          </a:xfrm>
          <a:prstGeom prst="rect">
            <a:avLst/>
          </a:prstGeom>
          <a:noFill/>
        </p:spPr>
        <p:txBody>
          <a:bodyPr wrap="square">
            <a:spAutoFit/>
          </a:bodyPr>
          <a:lstStyle/>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The contents in this document are © copyright 2021 Acryl Inc.  All rights are reserved. </a:t>
            </a:r>
          </a:p>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A license is hereby granted to download and print a copy of this document for personal use only. </a:t>
            </a:r>
          </a:p>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No other license to any other intellectual property rights is granted herein. </a:t>
            </a:r>
          </a:p>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Unless expressly permitted herein, reproduction, transfer, distribution of storage of part or all of the contents in any form without the prior written permission of ACRYL Inc. is prohibited.</a:t>
            </a:r>
          </a:p>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The information presented in this document does not form part of any quotation or contract, is believed to be accurate and reliable and may be changed without notice. </a:t>
            </a:r>
          </a:p>
          <a:p>
            <a:pPr marL="27221">
              <a:lnSpc>
                <a:spcPct val="100000"/>
              </a:lnSpc>
            </a:pPr>
            <a:r>
              <a:rPr lang="en-US" altLang="ko-KR" sz="800" dirty="0">
                <a:solidFill>
                  <a:schemeClr val="bg1">
                    <a:alpha val="50000"/>
                  </a:schemeClr>
                </a:solidFill>
                <a:latin typeface="Spoqa Han Sans Neo" panose="020B0500000000000000" pitchFamily="34" charset="-127"/>
                <a:ea typeface="Spoqa Han Sans Neo" panose="020B0500000000000000" pitchFamily="34" charset="-127"/>
                <a:cs typeface="Arial" pitchFamily="34" charset="0"/>
                <a:sym typeface="Arial" pitchFamily="34" charset="0"/>
              </a:rPr>
              <a:t>No liability will be accepted by the publisher for any consequence of its use. Publication thereof does not convey nor imply any license under patent or other industrial or intellectual property rights. </a:t>
            </a:r>
          </a:p>
        </p:txBody>
      </p:sp>
    </p:spTree>
    <p:extLst>
      <p:ext uri="{BB962C8B-B14F-4D97-AF65-F5344CB8AC3E}">
        <p14:creationId xmlns:p14="http://schemas.microsoft.com/office/powerpoint/2010/main" val="38727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Defaul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892632-1D5E-40D9-B165-318BC0374AB3}"/>
              </a:ext>
            </a:extLst>
          </p:cNvPr>
          <p:cNvSpPr txBox="1"/>
          <p:nvPr userDrawn="1"/>
        </p:nvSpPr>
        <p:spPr>
          <a:xfrm>
            <a:off x="8701088" y="6577347"/>
            <a:ext cx="3238500" cy="200055"/>
          </a:xfrm>
          <a:prstGeom prst="rect">
            <a:avLst/>
          </a:prstGeom>
          <a:noFill/>
        </p:spPr>
        <p:txBody>
          <a:bodyPr wrap="square">
            <a:spAutoFit/>
          </a:bodyPr>
          <a:lstStyle/>
          <a:p>
            <a:r>
              <a:rPr lang="en-US" altLang="ko-KR" sz="700">
                <a:solidFill>
                  <a:schemeClr val="bg1">
                    <a:lumMod val="65000"/>
                  </a:schemeClr>
                </a:solidFill>
                <a:latin typeface="Campton-Book" panose="00000500000000000000" pitchFamily="2" charset="0"/>
              </a:rPr>
              <a:t>Copyright 2022 </a:t>
            </a:r>
            <a:r>
              <a:rPr lang="en-US" altLang="ko-KR" sz="700" dirty="0">
                <a:solidFill>
                  <a:schemeClr val="bg1">
                    <a:lumMod val="65000"/>
                  </a:schemeClr>
                </a:solidFill>
                <a:latin typeface="Campton-Book" panose="00000500000000000000" pitchFamily="2" charset="0"/>
              </a:rPr>
              <a:t>Acryl All rights reserved.  |   </a:t>
            </a:r>
            <a:r>
              <a:rPr lang="en-US" altLang="ko-KR" sz="700" dirty="0">
                <a:solidFill>
                  <a:srgbClr val="151F6A"/>
                </a:solidFill>
                <a:latin typeface="Campton-Book" panose="00000500000000000000" pitchFamily="2" charset="0"/>
              </a:rPr>
              <a:t>STRICTLY CONFIDENTIAL </a:t>
            </a:r>
            <a:endParaRPr lang="ko-KR" altLang="en-US" sz="700" dirty="0">
              <a:latin typeface="Campton-Book" panose="00000500000000000000" pitchFamily="2" charset="0"/>
            </a:endParaRPr>
          </a:p>
        </p:txBody>
      </p:sp>
      <p:sp>
        <p:nvSpPr>
          <p:cNvPr id="4" name="슬라이드 번호 개체 틀 3">
            <a:extLst>
              <a:ext uri="{FF2B5EF4-FFF2-40B4-BE49-F238E27FC236}">
                <a16:creationId xmlns:a16="http://schemas.microsoft.com/office/drawing/2014/main" id="{A81CD73C-8CA0-4CC1-BF26-6F60C9EE08E9}"/>
              </a:ext>
            </a:extLst>
          </p:cNvPr>
          <p:cNvSpPr>
            <a:spLocks noGrp="1"/>
          </p:cNvSpPr>
          <p:nvPr>
            <p:ph type="sldNum" sz="quarter" idx="12"/>
          </p:nvPr>
        </p:nvSpPr>
        <p:spPr>
          <a:xfrm>
            <a:off x="11825288" y="6577347"/>
            <a:ext cx="307030" cy="152400"/>
          </a:xfrm>
          <a:prstGeom prst="rect">
            <a:avLst/>
          </a:prstGeom>
        </p:spPr>
        <p:txBody>
          <a:bodyPr/>
          <a:lstStyle>
            <a:lvl1pPr algn="r">
              <a:defRPr sz="700">
                <a:solidFill>
                  <a:schemeClr val="bg1">
                    <a:lumMod val="65000"/>
                  </a:schemeClr>
                </a:solidFill>
                <a:latin typeface="Campton-Book" panose="00000500000000000000" pitchFamily="2" charset="0"/>
              </a:defRPr>
            </a:lvl1pPr>
          </a:lstStyle>
          <a:p>
            <a:fld id="{01EC8151-EB5C-441C-BB12-082644A0AB3E}" type="slidenum">
              <a:rPr lang="ko-KR" altLang="en-US" smtClean="0"/>
              <a:pPr/>
              <a:t>‹#›</a:t>
            </a:fld>
            <a:endParaRPr lang="ko-KR" altLang="en-US" dirty="0"/>
          </a:p>
        </p:txBody>
      </p:sp>
    </p:spTree>
    <p:extLst>
      <p:ext uri="{BB962C8B-B14F-4D97-AF65-F5344CB8AC3E}">
        <p14:creationId xmlns:p14="http://schemas.microsoft.com/office/powerpoint/2010/main" val="36234958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011507"/>
      </p:ext>
    </p:extLst>
  </p:cSld>
  <p:clrMap bg1="lt1" tx1="dk1" bg2="lt2" tx2="dk2" accent1="accent1" accent2="accent2" accent3="accent3" accent4="accent4" accent5="accent5" accent6="accent6" hlink="hlink" folHlink="folHlink"/>
  <p:sldLayoutIdLst>
    <p:sldLayoutId id="2147483658" r:id="rId1"/>
    <p:sldLayoutId id="2147483664" r:id="rId2"/>
    <p:sldLayoutId id="2147483666" r:id="rId3"/>
    <p:sldLayoutId id="2147483659" r:id="rId4"/>
    <p:sldLayoutId id="2147483662" r:id="rId5"/>
    <p:sldLayoutId id="2147483667" r:id="rId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7021E0-D655-7F70-BE64-A56E849F9758}"/>
              </a:ext>
            </a:extLst>
          </p:cNvPr>
          <p:cNvSpPr txBox="1"/>
          <p:nvPr/>
        </p:nvSpPr>
        <p:spPr>
          <a:xfrm>
            <a:off x="857945" y="3066895"/>
            <a:ext cx="973343" cy="492443"/>
          </a:xfrm>
          <a:prstGeom prst="rect">
            <a:avLst/>
          </a:prstGeom>
          <a:noFill/>
        </p:spPr>
        <p:txBody>
          <a:bodyPr wrap="none" rtlCol="0">
            <a:spAutoFit/>
          </a:bodyPr>
          <a:lstStyle/>
          <a:p>
            <a:pPr algn="ctr"/>
            <a:r>
              <a:rPr lang="en-US" altLang="ko-KR" sz="2600" dirty="0">
                <a:solidFill>
                  <a:schemeClr val="bg1"/>
                </a:solidFill>
                <a:latin typeface="Spoqa Han Sans Neo" panose="020B0500000000000000" pitchFamily="34" charset="-127"/>
                <a:ea typeface="Spoqa Han Sans Neo" panose="020B0500000000000000" pitchFamily="34" charset="-127"/>
              </a:rPr>
              <a:t>Day7</a:t>
            </a:r>
            <a:endParaRPr lang="ko-KR" altLang="en-US" sz="2600" dirty="0">
              <a:solidFill>
                <a:schemeClr val="bg1"/>
              </a:solidFill>
              <a:latin typeface="Spoqa Han Sans Neo" panose="020B0500000000000000" pitchFamily="34" charset="-127"/>
              <a:ea typeface="Spoqa Han Sans Neo" panose="020B0500000000000000" pitchFamily="34" charset="-127"/>
            </a:endParaRPr>
          </a:p>
        </p:txBody>
      </p:sp>
      <p:sp>
        <p:nvSpPr>
          <p:cNvPr id="3" name="TextBox 2">
            <a:extLst>
              <a:ext uri="{FF2B5EF4-FFF2-40B4-BE49-F238E27FC236}">
                <a16:creationId xmlns:a16="http://schemas.microsoft.com/office/drawing/2014/main" id="{CD4E175C-09C3-F060-3CCC-C854DF5C7169}"/>
              </a:ext>
            </a:extLst>
          </p:cNvPr>
          <p:cNvSpPr txBox="1"/>
          <p:nvPr/>
        </p:nvSpPr>
        <p:spPr>
          <a:xfrm>
            <a:off x="857945" y="1449675"/>
            <a:ext cx="3272050" cy="1446550"/>
          </a:xfrm>
          <a:prstGeom prst="rect">
            <a:avLst/>
          </a:prstGeom>
          <a:noFill/>
        </p:spPr>
        <p:txBody>
          <a:bodyPr wrap="none" rtlCol="0">
            <a:spAutoFit/>
          </a:bodyPr>
          <a:lstStyle/>
          <a:p>
            <a:r>
              <a:rPr lang="en-US" altLang="ko-KR" sz="4400" dirty="0">
                <a:solidFill>
                  <a:schemeClr val="bg1"/>
                </a:solidFill>
                <a:latin typeface="Spoqa Han Sans Neo Bold" panose="020B0800000000000000" pitchFamily="34" charset="-127"/>
                <a:ea typeface="Spoqa Han Sans Neo Bold" panose="020B0800000000000000" pitchFamily="34" charset="-127"/>
              </a:rPr>
              <a:t>AAAI </a:t>
            </a:r>
            <a:r>
              <a:rPr lang="ko-KR" altLang="en-US" sz="4400" dirty="0">
                <a:solidFill>
                  <a:schemeClr val="bg1"/>
                </a:solidFill>
                <a:latin typeface="Spoqa Han Sans Neo Bold" panose="020B0800000000000000" pitchFamily="34" charset="-127"/>
                <a:ea typeface="Spoqa Han Sans Neo Bold" panose="020B0800000000000000" pitchFamily="34" charset="-127"/>
              </a:rPr>
              <a:t>연구소</a:t>
            </a:r>
            <a:r>
              <a:rPr lang="en-US" altLang="ko-KR" sz="4400" dirty="0">
                <a:solidFill>
                  <a:schemeClr val="bg1"/>
                </a:solidFill>
                <a:latin typeface="Spoqa Han Sans Neo Bold" panose="020B0800000000000000" pitchFamily="34" charset="-127"/>
                <a:ea typeface="Spoqa Han Sans Neo Bold" panose="020B0800000000000000" pitchFamily="34" charset="-127"/>
              </a:rPr>
              <a:t> </a:t>
            </a:r>
          </a:p>
          <a:p>
            <a:r>
              <a:rPr lang="ko-KR" altLang="en-US" sz="4400" dirty="0">
                <a:solidFill>
                  <a:schemeClr val="bg1"/>
                </a:solidFill>
                <a:latin typeface="Spoqa Han Sans Neo Bold" panose="020B0800000000000000" pitchFamily="34" charset="-127"/>
                <a:ea typeface="Spoqa Han Sans Neo Bold" panose="020B0800000000000000" pitchFamily="34" charset="-127"/>
              </a:rPr>
              <a:t>세미나</a:t>
            </a:r>
          </a:p>
        </p:txBody>
      </p:sp>
      <p:sp>
        <p:nvSpPr>
          <p:cNvPr id="4" name="TextBox 3">
            <a:extLst>
              <a:ext uri="{FF2B5EF4-FFF2-40B4-BE49-F238E27FC236}">
                <a16:creationId xmlns:a16="http://schemas.microsoft.com/office/drawing/2014/main" id="{768A1E6F-F4ED-8330-8EC5-4435144DBC49}"/>
              </a:ext>
            </a:extLst>
          </p:cNvPr>
          <p:cNvSpPr txBox="1"/>
          <p:nvPr/>
        </p:nvSpPr>
        <p:spPr>
          <a:xfrm>
            <a:off x="842364" y="3730008"/>
            <a:ext cx="1601721" cy="276999"/>
          </a:xfrm>
          <a:prstGeom prst="rect">
            <a:avLst/>
          </a:prstGeom>
          <a:noFill/>
        </p:spPr>
        <p:txBody>
          <a:bodyPr wrap="none" rtlCol="0">
            <a:spAutoFit/>
          </a:bodyPr>
          <a:lstStyle/>
          <a:p>
            <a:pPr algn="ctr"/>
            <a:r>
              <a:rPr lang="en-US" altLang="ko-KR" sz="1200" dirty="0">
                <a:solidFill>
                  <a:schemeClr val="bg1">
                    <a:lumMod val="85000"/>
                    <a:alpha val="80000"/>
                  </a:schemeClr>
                </a:solidFill>
                <a:latin typeface="Spoqa Han Sans Neo" panose="020B0500000000000000" pitchFamily="50" charset="-127"/>
                <a:ea typeface="Spoqa Han Sans Neo" panose="020B0500000000000000" pitchFamily="50" charset="-127"/>
              </a:rPr>
              <a:t>22.12.15 / (</a:t>
            </a:r>
            <a:r>
              <a:rPr lang="ko-KR" altLang="en-US" sz="1200" dirty="0">
                <a:solidFill>
                  <a:schemeClr val="bg1">
                    <a:lumMod val="85000"/>
                    <a:alpha val="80000"/>
                  </a:schemeClr>
                </a:solidFill>
                <a:latin typeface="Spoqa Han Sans Neo" panose="020B0500000000000000" pitchFamily="50" charset="-127"/>
                <a:ea typeface="Spoqa Han Sans Neo" panose="020B0500000000000000" pitchFamily="50" charset="-127"/>
              </a:rPr>
              <a:t>주</a:t>
            </a:r>
            <a:r>
              <a:rPr lang="en-US" altLang="ko-KR" sz="1200" dirty="0">
                <a:solidFill>
                  <a:schemeClr val="bg1">
                    <a:lumMod val="85000"/>
                    <a:alpha val="80000"/>
                  </a:schemeClr>
                </a:solidFill>
                <a:latin typeface="Spoqa Han Sans Neo" panose="020B0500000000000000" pitchFamily="50" charset="-127"/>
                <a:ea typeface="Spoqa Han Sans Neo" panose="020B0500000000000000" pitchFamily="50" charset="-127"/>
              </a:rPr>
              <a:t>)</a:t>
            </a:r>
            <a:r>
              <a:rPr lang="ko-KR" altLang="en-US" sz="1200" dirty="0">
                <a:solidFill>
                  <a:schemeClr val="bg1">
                    <a:lumMod val="85000"/>
                    <a:alpha val="80000"/>
                  </a:schemeClr>
                </a:solidFill>
                <a:latin typeface="Spoqa Han Sans Neo" panose="020B0500000000000000" pitchFamily="50" charset="-127"/>
                <a:ea typeface="Spoqa Han Sans Neo" panose="020B0500000000000000" pitchFamily="50" charset="-127"/>
              </a:rPr>
              <a:t>아크릴</a:t>
            </a:r>
          </a:p>
        </p:txBody>
      </p:sp>
    </p:spTree>
    <p:extLst>
      <p:ext uri="{BB962C8B-B14F-4D97-AF65-F5344CB8AC3E}">
        <p14:creationId xmlns:p14="http://schemas.microsoft.com/office/powerpoint/2010/main" val="4188897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967778" y="2828835"/>
            <a:ext cx="10256443" cy="1200329"/>
          </a:xfrm>
          <a:prstGeom prst="rect">
            <a:avLst/>
          </a:prstGeom>
          <a:noFill/>
        </p:spPr>
        <p:txBody>
          <a:bodyPr wrap="square" rtlCol="0">
            <a:spAutoFit/>
          </a:bodyPr>
          <a:lstStyle/>
          <a:p>
            <a:r>
              <a:rPr lang="en-US" altLang="ko-KR" sz="3600" dirty="0">
                <a:solidFill>
                  <a:srgbClr val="151F6A"/>
                </a:solidFill>
                <a:latin typeface="Spoqa Han Sans Neo Bold" panose="020B0800000000000000" pitchFamily="34" charset="-127"/>
                <a:ea typeface="Spoqa Han Sans Neo Bold" panose="020B0800000000000000" pitchFamily="34" charset="-127"/>
              </a:rPr>
              <a:t>An Image is Worth 16x16 Words:</a:t>
            </a:r>
          </a:p>
          <a:p>
            <a:r>
              <a:rPr lang="en-US" altLang="ko-KR" sz="3600" dirty="0">
                <a:solidFill>
                  <a:srgbClr val="151F6A"/>
                </a:solidFill>
                <a:latin typeface="Spoqa Han Sans Neo Bold" panose="020B0800000000000000" pitchFamily="34" charset="-127"/>
                <a:ea typeface="Spoqa Han Sans Neo Bold" panose="020B0800000000000000" pitchFamily="34" charset="-127"/>
              </a:rPr>
              <a:t>Transformers for Image Recognition at Scale</a:t>
            </a:r>
            <a:endParaRPr lang="ko-KR" altLang="en-US" sz="3600" dirty="0">
              <a:solidFill>
                <a:srgbClr val="151F6A"/>
              </a:solidFill>
              <a:latin typeface="Spoqa Han Sans Neo Bold" panose="020B0800000000000000" pitchFamily="34" charset="-127"/>
              <a:ea typeface="Spoqa Han Sans Neo Bold" panose="020B0800000000000000" pitchFamily="34" charset="-127"/>
            </a:endParaRPr>
          </a:p>
        </p:txBody>
      </p:sp>
    </p:spTree>
    <p:extLst>
      <p:ext uri="{BB962C8B-B14F-4D97-AF65-F5344CB8AC3E}">
        <p14:creationId xmlns:p14="http://schemas.microsoft.com/office/powerpoint/2010/main" val="236522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3</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746812" cy="553998"/>
          </a:xfrm>
          <a:prstGeom prst="rect">
            <a:avLst/>
          </a:prstGeom>
          <a:noFill/>
        </p:spPr>
        <p:txBody>
          <a:bodyPr wrap="none" rtlCol="0">
            <a:spAutoFit/>
          </a:bodyPr>
          <a:lstStyle/>
          <a:p>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r>
              <a:rPr lang="en-US" altLang="ko-KR" sz="3000" dirty="0">
                <a:solidFill>
                  <a:srgbClr val="151F6A"/>
                </a:solidFill>
                <a:latin typeface="Spoqa Han Sans Neo Bold" panose="020B0800000000000000" pitchFamily="34" charset="-127"/>
                <a:ea typeface="Spoqa Han Sans Neo Bold" panose="020B0800000000000000" pitchFamily="34" charset="-127"/>
              </a:rPr>
              <a:t> (Vision Transformer)</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3" name="TextBox 2">
            <a:extLst>
              <a:ext uri="{FF2B5EF4-FFF2-40B4-BE49-F238E27FC236}">
                <a16:creationId xmlns:a16="http://schemas.microsoft.com/office/drawing/2014/main" id="{081854DB-32CA-91E9-0AA8-A679A2C2BB52}"/>
              </a:ext>
            </a:extLst>
          </p:cNvPr>
          <p:cNvSpPr txBox="1"/>
          <p:nvPr/>
        </p:nvSpPr>
        <p:spPr>
          <a:xfrm>
            <a:off x="0" y="6604084"/>
            <a:ext cx="11009773" cy="253916"/>
          </a:xfrm>
          <a:prstGeom prst="rect">
            <a:avLst/>
          </a:prstGeom>
          <a:noFill/>
        </p:spPr>
        <p:txBody>
          <a:bodyPr wrap="square">
            <a:spAutoFit/>
          </a:bodyPr>
          <a:lstStyle/>
          <a:p>
            <a:r>
              <a:rPr lang="en-US" altLang="ko-KR" sz="1000" b="1" i="0" dirty="0">
                <a:effectLst/>
                <a:latin typeface="Spoqa Han Sans Neo" panose="020B0500000000000000" pitchFamily="34" charset="-127"/>
                <a:ea typeface="Spoqa Han Sans Neo" panose="020B0500000000000000" pitchFamily="34" charset="-127"/>
              </a:rPr>
              <a:t>An Image Is Worth 16x16 Words: Transformers For Image Recognition At Scale by </a:t>
            </a:r>
            <a:r>
              <a:rPr lang="en-US" altLang="ko-KR" sz="1000" b="1" i="0" dirty="0" err="1">
                <a:effectLst/>
                <a:latin typeface="Spoqa Han Sans Neo" panose="020B0500000000000000" pitchFamily="34" charset="-127"/>
                <a:ea typeface="Spoqa Han Sans Neo" panose="020B0500000000000000" pitchFamily="34" charset="-127"/>
              </a:rPr>
              <a:t>Dosovitskiy</a:t>
            </a:r>
            <a:r>
              <a:rPr lang="en-US" altLang="ko-KR" sz="1000" b="1" i="0" dirty="0">
                <a:effectLst/>
                <a:latin typeface="Spoqa Han Sans Neo" panose="020B0500000000000000" pitchFamily="34" charset="-127"/>
                <a:ea typeface="Spoqa Han Sans Neo" panose="020B0500000000000000" pitchFamily="34" charset="-127"/>
              </a:rPr>
              <a:t> et al. 2021</a:t>
            </a:r>
            <a:endParaRPr lang="en-US" altLang="ko-KR" sz="1000" b="1" dirty="0">
              <a:latin typeface="Spoqa Han Sans Neo" panose="020B0500000000000000" pitchFamily="34" charset="-127"/>
              <a:ea typeface="Spoqa Han Sans Neo" panose="020B0500000000000000" pitchFamily="34" charset="-127"/>
            </a:endParaRPr>
          </a:p>
        </p:txBody>
      </p:sp>
      <p:sp>
        <p:nvSpPr>
          <p:cNvPr id="6" name="TextBox 5">
            <a:extLst>
              <a:ext uri="{FF2B5EF4-FFF2-40B4-BE49-F238E27FC236}">
                <a16:creationId xmlns:a16="http://schemas.microsoft.com/office/drawing/2014/main" id="{51597CF5-00A2-11F8-F27B-21DD6EC15660}"/>
              </a:ext>
            </a:extLst>
          </p:cNvPr>
          <p:cNvSpPr txBox="1"/>
          <p:nvPr/>
        </p:nvSpPr>
        <p:spPr>
          <a:xfrm>
            <a:off x="384446" y="877203"/>
            <a:ext cx="11009773" cy="46634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모델 구조</a:t>
            </a:r>
            <a:endParaRPr lang="en-US" altLang="ko-KR" dirty="0">
              <a:latin typeface="Spoqa Han Sans Neo" panose="020B0500000000000000" pitchFamily="34" charset="-127"/>
              <a:ea typeface="Spoqa Han Sans Neo" panose="020B0500000000000000" pitchFamily="34" charset="-127"/>
            </a:endParaRPr>
          </a:p>
        </p:txBody>
      </p:sp>
      <p:pic>
        <p:nvPicPr>
          <p:cNvPr id="9" name="그림 8">
            <a:extLst>
              <a:ext uri="{FF2B5EF4-FFF2-40B4-BE49-F238E27FC236}">
                <a16:creationId xmlns:a16="http://schemas.microsoft.com/office/drawing/2014/main" id="{4DA8D24C-0507-1F30-60C1-1F6340A3FCBA}"/>
              </a:ext>
            </a:extLst>
          </p:cNvPr>
          <p:cNvPicPr>
            <a:picLocks noChangeAspect="1"/>
          </p:cNvPicPr>
          <p:nvPr/>
        </p:nvPicPr>
        <p:blipFill>
          <a:blip r:embed="rId3"/>
          <a:stretch>
            <a:fillRect/>
          </a:stretch>
        </p:blipFill>
        <p:spPr>
          <a:xfrm>
            <a:off x="1960173" y="1612270"/>
            <a:ext cx="8271653" cy="4967080"/>
          </a:xfrm>
          <a:prstGeom prst="rect">
            <a:avLst/>
          </a:prstGeom>
        </p:spPr>
      </p:pic>
      <p:pic>
        <p:nvPicPr>
          <p:cNvPr id="12" name="그림 11">
            <a:extLst>
              <a:ext uri="{FF2B5EF4-FFF2-40B4-BE49-F238E27FC236}">
                <a16:creationId xmlns:a16="http://schemas.microsoft.com/office/drawing/2014/main" id="{16BFCEC7-0928-25DF-A76D-0C526A2CEC6D}"/>
              </a:ext>
            </a:extLst>
          </p:cNvPr>
          <p:cNvPicPr>
            <a:picLocks noChangeAspect="1"/>
          </p:cNvPicPr>
          <p:nvPr/>
        </p:nvPicPr>
        <p:blipFill>
          <a:blip r:embed="rId4"/>
          <a:stretch>
            <a:fillRect/>
          </a:stretch>
        </p:blipFill>
        <p:spPr>
          <a:xfrm>
            <a:off x="7056942" y="94354"/>
            <a:ext cx="5029902" cy="1438476"/>
          </a:xfrm>
          <a:prstGeom prst="rect">
            <a:avLst/>
          </a:prstGeom>
        </p:spPr>
      </p:pic>
    </p:spTree>
    <p:extLst>
      <p:ext uri="{BB962C8B-B14F-4D97-AF65-F5344CB8AC3E}">
        <p14:creationId xmlns:p14="http://schemas.microsoft.com/office/powerpoint/2010/main" val="357766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4</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746812" cy="553998"/>
          </a:xfrm>
          <a:prstGeom prst="rect">
            <a:avLst/>
          </a:prstGeom>
          <a:noFill/>
        </p:spPr>
        <p:txBody>
          <a:bodyPr wrap="none" rtlCol="0">
            <a:spAutoFit/>
          </a:bodyPr>
          <a:lstStyle/>
          <a:p>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r>
              <a:rPr lang="en-US" altLang="ko-KR" sz="3000" dirty="0">
                <a:solidFill>
                  <a:srgbClr val="151F6A"/>
                </a:solidFill>
                <a:latin typeface="Spoqa Han Sans Neo Bold" panose="020B0800000000000000" pitchFamily="34" charset="-127"/>
                <a:ea typeface="Spoqa Han Sans Neo Bold" panose="020B0800000000000000" pitchFamily="34" charset="-127"/>
              </a:rPr>
              <a:t> (Vision Transformer)</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7" y="877203"/>
            <a:ext cx="10548596" cy="295933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Computer vision</a:t>
            </a:r>
            <a:r>
              <a:rPr lang="ko-KR" altLang="en-US" dirty="0">
                <a:latin typeface="Spoqa Han Sans Neo" panose="020B0500000000000000" pitchFamily="34" charset="-127"/>
                <a:ea typeface="Spoqa Han Sans Neo" panose="020B0500000000000000" pitchFamily="34" charset="-127"/>
              </a:rPr>
              <a:t>에서는 </a:t>
            </a:r>
            <a:r>
              <a:rPr lang="en-US" altLang="ko-KR" dirty="0">
                <a:latin typeface="Spoqa Han Sans Neo" panose="020B0500000000000000" pitchFamily="34" charset="-127"/>
                <a:ea typeface="Spoqa Han Sans Neo" panose="020B0500000000000000" pitchFamily="34" charset="-127"/>
              </a:rPr>
              <a:t>CNN</a:t>
            </a:r>
            <a:r>
              <a:rPr lang="ko-KR" altLang="en-US" dirty="0">
                <a:latin typeface="Spoqa Han Sans Neo" panose="020B0500000000000000" pitchFamily="34" charset="-127"/>
                <a:ea typeface="Spoqa Han Sans Neo" panose="020B0500000000000000" pitchFamily="34" charset="-127"/>
              </a:rPr>
              <a:t>이 주로 사용되었음</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CNNs</a:t>
            </a:r>
            <a:r>
              <a:rPr lang="ko-KR" altLang="en-US" dirty="0">
                <a:latin typeface="Spoqa Han Sans Neo" panose="020B0500000000000000" pitchFamily="34" charset="-127"/>
                <a:ea typeface="Spoqa Han Sans Neo" panose="020B0500000000000000" pitchFamily="34" charset="-127"/>
              </a:rPr>
              <a:t>은 </a:t>
            </a:r>
            <a:r>
              <a:rPr lang="en-US" altLang="ko-KR" dirty="0">
                <a:latin typeface="Spoqa Han Sans Neo" panose="020B0500000000000000" pitchFamily="34" charset="-127"/>
                <a:ea typeface="Spoqa Han Sans Neo" panose="020B0500000000000000" pitchFamily="34" charset="-127"/>
              </a:rPr>
              <a:t>translation equivariance </a:t>
            </a:r>
            <a:r>
              <a:rPr lang="ko-KR" altLang="en-US" dirty="0">
                <a:latin typeface="Spoqa Han Sans Neo" panose="020B0500000000000000" pitchFamily="34" charset="-127"/>
                <a:ea typeface="Spoqa Han Sans Neo" panose="020B0500000000000000" pitchFamily="34" charset="-127"/>
              </a:rPr>
              <a:t>및</a:t>
            </a:r>
            <a:r>
              <a:rPr lang="en-US" altLang="ko-KR" dirty="0">
                <a:latin typeface="Spoqa Han Sans Neo" panose="020B0500000000000000" pitchFamily="34" charset="-127"/>
                <a:ea typeface="Spoqa Han Sans Neo" panose="020B0500000000000000" pitchFamily="34" charset="-127"/>
              </a:rPr>
              <a:t> locality</a:t>
            </a:r>
            <a:r>
              <a:rPr lang="ko-KR" altLang="en-US" dirty="0">
                <a:latin typeface="Spoqa Han Sans Neo" panose="020B0500000000000000" pitchFamily="34" charset="-127"/>
                <a:ea typeface="Spoqa Han Sans Neo" panose="020B0500000000000000" pitchFamily="34" charset="-127"/>
              </a:rPr>
              <a:t>와 같은 고유의 </a:t>
            </a:r>
            <a:r>
              <a:rPr lang="en-US" altLang="ko-KR" dirty="0">
                <a:latin typeface="Spoqa Han Sans Neo" panose="020B0500000000000000" pitchFamily="34" charset="-127"/>
                <a:ea typeface="Spoqa Han Sans Neo" panose="020B0500000000000000" pitchFamily="34" charset="-127"/>
              </a:rPr>
              <a:t>inductive bias</a:t>
            </a:r>
            <a:r>
              <a:rPr lang="ko-KR" altLang="en-US" dirty="0">
                <a:latin typeface="Spoqa Han Sans Neo" panose="020B0500000000000000" pitchFamily="34" charset="-127"/>
                <a:ea typeface="Spoqa Han Sans Neo" panose="020B0500000000000000" pitchFamily="34" charset="-127"/>
              </a:rPr>
              <a:t>가 존재</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endParaRPr lang="en-US" altLang="ko-KR" sz="1400"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반면 </a:t>
            </a:r>
            <a:r>
              <a:rPr lang="en-US" altLang="ko-KR" dirty="0">
                <a:latin typeface="Spoqa Han Sans Neo" panose="020B0500000000000000" pitchFamily="34" charset="-127"/>
                <a:ea typeface="Spoqa Han Sans Neo" panose="020B0500000000000000" pitchFamily="34" charset="-127"/>
              </a:rPr>
              <a:t>transformer</a:t>
            </a:r>
            <a:r>
              <a:rPr lang="ko-KR" altLang="en-US" dirty="0">
                <a:latin typeface="Spoqa Han Sans Neo" panose="020B0500000000000000" pitchFamily="34" charset="-127"/>
                <a:ea typeface="Spoqa Han Sans Neo" panose="020B0500000000000000" pitchFamily="34" charset="-127"/>
              </a:rPr>
              <a:t>는 </a:t>
            </a:r>
            <a:r>
              <a:rPr lang="en-US" altLang="ko-KR" dirty="0">
                <a:latin typeface="Spoqa Han Sans Neo" panose="020B0500000000000000" pitchFamily="34" charset="-127"/>
                <a:ea typeface="Spoqa Han Sans Neo" panose="020B0500000000000000" pitchFamily="34" charset="-127"/>
              </a:rPr>
              <a:t>CNN</a:t>
            </a:r>
            <a:r>
              <a:rPr lang="ko-KR" altLang="en-US" dirty="0">
                <a:latin typeface="Spoqa Han Sans Neo" panose="020B0500000000000000" pitchFamily="34" charset="-127"/>
                <a:ea typeface="Spoqa Han Sans Neo" panose="020B0500000000000000" pitchFamily="34" charset="-127"/>
              </a:rPr>
              <a:t>과 같은 </a:t>
            </a:r>
            <a:r>
              <a:rPr lang="en-US" altLang="ko-KR" dirty="0">
                <a:latin typeface="Spoqa Han Sans Neo" panose="020B0500000000000000" pitchFamily="34" charset="-127"/>
                <a:ea typeface="Spoqa Han Sans Neo" panose="020B0500000000000000" pitchFamily="34" charset="-127"/>
              </a:rPr>
              <a:t>inductive bias</a:t>
            </a:r>
            <a:r>
              <a:rPr lang="ko-KR" altLang="en-US" dirty="0">
                <a:latin typeface="Spoqa Han Sans Neo" panose="020B0500000000000000" pitchFamily="34" charset="-127"/>
                <a:ea typeface="Spoqa Han Sans Neo" panose="020B0500000000000000" pitchFamily="34" charset="-127"/>
              </a:rPr>
              <a:t>가 없기에 학습 시 많은 양의 데이터가 필요</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large-scale dataset</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pre-train</a:t>
            </a:r>
            <a:r>
              <a:rPr lang="ko-KR" altLang="en-US" dirty="0">
                <a:latin typeface="Spoqa Han Sans Neo" panose="020B0500000000000000" pitchFamily="34" charset="-127"/>
                <a:ea typeface="Spoqa Han Sans Neo" panose="020B0500000000000000" pitchFamily="34" charset="-127"/>
              </a:rPr>
              <a:t>을 진행한 다음 </a:t>
            </a:r>
            <a:r>
              <a:rPr lang="en-US" altLang="ko-KR" dirty="0">
                <a:latin typeface="Spoqa Han Sans Neo" panose="020B0500000000000000" pitchFamily="34" charset="-127"/>
                <a:ea typeface="Spoqa Han Sans Neo" panose="020B0500000000000000" pitchFamily="34" charset="-127"/>
              </a:rPr>
              <a:t>downstream task</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fine-tuning</a:t>
            </a:r>
          </a:p>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p:txBody>
      </p:sp>
      <p:sp>
        <p:nvSpPr>
          <p:cNvPr id="3" name="TextBox 2">
            <a:extLst>
              <a:ext uri="{FF2B5EF4-FFF2-40B4-BE49-F238E27FC236}">
                <a16:creationId xmlns:a16="http://schemas.microsoft.com/office/drawing/2014/main" id="{081854DB-32CA-91E9-0AA8-A679A2C2BB52}"/>
              </a:ext>
            </a:extLst>
          </p:cNvPr>
          <p:cNvSpPr txBox="1"/>
          <p:nvPr/>
        </p:nvSpPr>
        <p:spPr>
          <a:xfrm>
            <a:off x="0" y="6604084"/>
            <a:ext cx="11009773" cy="253916"/>
          </a:xfrm>
          <a:prstGeom prst="rect">
            <a:avLst/>
          </a:prstGeom>
          <a:noFill/>
        </p:spPr>
        <p:txBody>
          <a:bodyPr wrap="square">
            <a:spAutoFit/>
          </a:bodyPr>
          <a:lstStyle/>
          <a:p>
            <a:r>
              <a:rPr lang="en-US" altLang="ko-KR" sz="1000" b="1" i="0" dirty="0">
                <a:effectLst/>
                <a:latin typeface="Spoqa Han Sans Neo" panose="020B0500000000000000" pitchFamily="34" charset="-127"/>
                <a:ea typeface="Spoqa Han Sans Neo" panose="020B0500000000000000" pitchFamily="34" charset="-127"/>
              </a:rPr>
              <a:t>An Image Is Worth 16x16 Words: Transformers For Image Recognition At Scale by </a:t>
            </a:r>
            <a:r>
              <a:rPr lang="en-US" altLang="ko-KR" sz="1000" b="1" i="0" dirty="0" err="1">
                <a:effectLst/>
                <a:latin typeface="Spoqa Han Sans Neo" panose="020B0500000000000000" pitchFamily="34" charset="-127"/>
                <a:ea typeface="Spoqa Han Sans Neo" panose="020B0500000000000000" pitchFamily="34" charset="-127"/>
              </a:rPr>
              <a:t>Dosovitskiy</a:t>
            </a:r>
            <a:r>
              <a:rPr lang="en-US" altLang="ko-KR" sz="1000" b="1" i="0" dirty="0">
                <a:effectLst/>
                <a:latin typeface="Spoqa Han Sans Neo" panose="020B0500000000000000" pitchFamily="34" charset="-127"/>
                <a:ea typeface="Spoqa Han Sans Neo" panose="020B0500000000000000" pitchFamily="34" charset="-127"/>
              </a:rPr>
              <a:t> et al. 2021</a:t>
            </a:r>
            <a:endParaRPr lang="en-US" altLang="ko-KR" sz="1000" b="1" dirty="0">
              <a:latin typeface="Spoqa Han Sans Neo" panose="020B0500000000000000" pitchFamily="34" charset="-127"/>
              <a:ea typeface="Spoqa Han Sans Neo" panose="020B0500000000000000" pitchFamily="34" charset="-127"/>
            </a:endParaRPr>
          </a:p>
        </p:txBody>
      </p:sp>
      <p:pic>
        <p:nvPicPr>
          <p:cNvPr id="5" name="그림 4">
            <a:extLst>
              <a:ext uri="{FF2B5EF4-FFF2-40B4-BE49-F238E27FC236}">
                <a16:creationId xmlns:a16="http://schemas.microsoft.com/office/drawing/2014/main" id="{18CC0D0D-08BF-CB44-2AA8-F6EF764C848E}"/>
              </a:ext>
            </a:extLst>
          </p:cNvPr>
          <p:cNvPicPr>
            <a:picLocks noChangeAspect="1"/>
          </p:cNvPicPr>
          <p:nvPr/>
        </p:nvPicPr>
        <p:blipFill>
          <a:blip r:embed="rId3"/>
          <a:stretch>
            <a:fillRect/>
          </a:stretch>
        </p:blipFill>
        <p:spPr>
          <a:xfrm>
            <a:off x="726838" y="3075339"/>
            <a:ext cx="7057543" cy="3446281"/>
          </a:xfrm>
          <a:prstGeom prst="rect">
            <a:avLst/>
          </a:prstGeom>
        </p:spPr>
      </p:pic>
      <p:pic>
        <p:nvPicPr>
          <p:cNvPr id="10" name="그림 9">
            <a:extLst>
              <a:ext uri="{FF2B5EF4-FFF2-40B4-BE49-F238E27FC236}">
                <a16:creationId xmlns:a16="http://schemas.microsoft.com/office/drawing/2014/main" id="{03DF4D60-D52B-54C2-FF04-696BE8CC4323}"/>
              </a:ext>
            </a:extLst>
          </p:cNvPr>
          <p:cNvPicPr>
            <a:picLocks noChangeAspect="1"/>
          </p:cNvPicPr>
          <p:nvPr/>
        </p:nvPicPr>
        <p:blipFill>
          <a:blip r:embed="rId4"/>
          <a:stretch>
            <a:fillRect/>
          </a:stretch>
        </p:blipFill>
        <p:spPr>
          <a:xfrm>
            <a:off x="8494555" y="3075339"/>
            <a:ext cx="3118487" cy="3384072"/>
          </a:xfrm>
          <a:prstGeom prst="rect">
            <a:avLst/>
          </a:prstGeom>
        </p:spPr>
      </p:pic>
    </p:spTree>
    <p:extLst>
      <p:ext uri="{BB962C8B-B14F-4D97-AF65-F5344CB8AC3E}">
        <p14:creationId xmlns:p14="http://schemas.microsoft.com/office/powerpoint/2010/main" val="2362031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5</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1639467" y="2828835"/>
            <a:ext cx="8913066" cy="1200329"/>
          </a:xfrm>
          <a:prstGeom prst="rect">
            <a:avLst/>
          </a:prstGeom>
          <a:noFill/>
        </p:spPr>
        <p:txBody>
          <a:bodyPr wrap="square" rtlCol="0">
            <a:spAutoFit/>
          </a:bodyPr>
          <a:lstStyle/>
          <a:p>
            <a:r>
              <a:rPr lang="en-US" altLang="ko-KR" sz="3600" dirty="0">
                <a:solidFill>
                  <a:srgbClr val="151F6A"/>
                </a:solidFill>
                <a:latin typeface="Spoqa Han Sans Neo Bold" panose="020B0800000000000000" pitchFamily="34" charset="-127"/>
                <a:ea typeface="Spoqa Han Sans Neo Bold" panose="020B0800000000000000" pitchFamily="34" charset="-127"/>
              </a:rPr>
              <a:t>Are</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Convolutional</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Neural</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Networks</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or</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Transformers</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more</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like</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human</a:t>
            </a:r>
            <a:r>
              <a:rPr lang="ko-KR" altLang="en-US" sz="3600" dirty="0">
                <a:solidFill>
                  <a:srgbClr val="151F6A"/>
                </a:solidFill>
                <a:latin typeface="Spoqa Han Sans Neo Bold" panose="020B0800000000000000" pitchFamily="34" charset="-127"/>
                <a:ea typeface="Spoqa Han Sans Neo Bold" panose="020B0800000000000000" pitchFamily="34" charset="-127"/>
              </a:rPr>
              <a:t> </a:t>
            </a:r>
            <a:r>
              <a:rPr lang="en-US" altLang="ko-KR" sz="3600" dirty="0">
                <a:solidFill>
                  <a:srgbClr val="151F6A"/>
                </a:solidFill>
                <a:latin typeface="Spoqa Han Sans Neo Bold" panose="020B0800000000000000" pitchFamily="34" charset="-127"/>
                <a:ea typeface="Spoqa Han Sans Neo Bold" panose="020B0800000000000000" pitchFamily="34" charset="-127"/>
              </a:rPr>
              <a:t>vision?</a:t>
            </a:r>
            <a:endParaRPr lang="ko-KR" altLang="en-US" sz="3600" dirty="0">
              <a:solidFill>
                <a:srgbClr val="151F6A"/>
              </a:solidFill>
              <a:latin typeface="Spoqa Han Sans Neo Bold" panose="020B0800000000000000" pitchFamily="34" charset="-127"/>
              <a:ea typeface="Spoqa Han Sans Neo Bold" panose="020B0800000000000000" pitchFamily="34" charset="-127"/>
            </a:endParaRPr>
          </a:p>
        </p:txBody>
      </p:sp>
    </p:spTree>
    <p:extLst>
      <p:ext uri="{BB962C8B-B14F-4D97-AF65-F5344CB8AC3E}">
        <p14:creationId xmlns:p14="http://schemas.microsoft.com/office/powerpoint/2010/main" val="422604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6</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3433953"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Shape</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vs</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Texture</a:t>
            </a: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129471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CNNs</a:t>
            </a:r>
            <a:r>
              <a:rPr lang="ko-KR" altLang="en-US" dirty="0">
                <a:latin typeface="Spoqa Han Sans Neo" panose="020B0500000000000000" pitchFamily="34" charset="-127"/>
                <a:ea typeface="Spoqa Han Sans Neo" panose="020B0500000000000000" pitchFamily="34" charset="-127"/>
              </a:rPr>
              <a:t>과 </a:t>
            </a:r>
            <a:r>
              <a:rPr lang="en-US" altLang="ko-KR" dirty="0" err="1">
                <a:latin typeface="Spoqa Han Sans Neo" panose="020B0500000000000000" pitchFamily="34" charset="-127"/>
                <a:ea typeface="Spoqa Han Sans Neo" panose="020B0500000000000000" pitchFamily="34" charset="-127"/>
              </a:rPr>
              <a:t>ViTs</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중 어느 모델이 더 </a:t>
            </a:r>
            <a:r>
              <a:rPr lang="en-US" altLang="ko-KR" dirty="0">
                <a:latin typeface="Spoqa Han Sans Neo" panose="020B0500000000000000" pitchFamily="34" charset="-127"/>
                <a:ea typeface="Spoqa Han Sans Neo" panose="020B0500000000000000" pitchFamily="34" charset="-127"/>
              </a:rPr>
              <a:t>human-like </a:t>
            </a:r>
            <a:r>
              <a:rPr lang="ko-KR" altLang="en-US" dirty="0">
                <a:latin typeface="Spoqa Han Sans Neo" panose="020B0500000000000000" pitchFamily="34" charset="-127"/>
                <a:ea typeface="Spoqa Han Sans Neo" panose="020B0500000000000000" pitchFamily="34" charset="-127"/>
              </a:rPr>
              <a:t>한지를 비교하는 논문</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Stylized ImageNet</a:t>
            </a:r>
            <a:r>
              <a:rPr lang="ko-KR" altLang="en-US" dirty="0">
                <a:latin typeface="Spoqa Han Sans Neo" panose="020B0500000000000000" pitchFamily="34" charset="-127"/>
                <a:ea typeface="Spoqa Han Sans Neo" panose="020B0500000000000000" pitchFamily="34" charset="-127"/>
              </a:rPr>
              <a:t>을 사용</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classification</a:t>
            </a:r>
            <a:r>
              <a:rPr lang="ko-KR" altLang="en-US" dirty="0">
                <a:latin typeface="Spoqa Han Sans Neo" panose="020B0500000000000000" pitchFamily="34" charset="-127"/>
                <a:ea typeface="Spoqa Han Sans Neo" panose="020B0500000000000000" pitchFamily="34" charset="-127"/>
              </a:rPr>
              <a:t>시 </a:t>
            </a:r>
            <a:r>
              <a:rPr lang="en-US" altLang="ko-KR" dirty="0">
                <a:latin typeface="Spoqa Han Sans Neo" panose="020B0500000000000000" pitchFamily="34" charset="-127"/>
                <a:ea typeface="Spoqa Han Sans Neo" panose="020B0500000000000000" pitchFamily="34" charset="-127"/>
              </a:rPr>
              <a:t>shape</a:t>
            </a:r>
            <a:r>
              <a:rPr lang="ko-KR" altLang="en-US" dirty="0">
                <a:latin typeface="Spoqa Han Sans Neo" panose="020B0500000000000000" pitchFamily="34" charset="-127"/>
                <a:ea typeface="Spoqa Han Sans Neo" panose="020B0500000000000000" pitchFamily="34" charset="-127"/>
              </a:rPr>
              <a:t>과 </a:t>
            </a:r>
            <a:r>
              <a:rPr lang="en-US" altLang="ko-KR" dirty="0">
                <a:latin typeface="Spoqa Han Sans Neo" panose="020B0500000000000000" pitchFamily="34" charset="-127"/>
                <a:ea typeface="Spoqa Han Sans Neo" panose="020B0500000000000000" pitchFamily="34" charset="-127"/>
              </a:rPr>
              <a:t>texture </a:t>
            </a:r>
            <a:r>
              <a:rPr lang="ko-KR" altLang="en-US" dirty="0">
                <a:latin typeface="Spoqa Han Sans Neo" panose="020B0500000000000000" pitchFamily="34" charset="-127"/>
                <a:ea typeface="Spoqa Han Sans Neo" panose="020B0500000000000000" pitchFamily="34" charset="-127"/>
              </a:rPr>
              <a:t>중 어느 특성을 더 중점적으로 보는지 실험</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Are Convolutional Neural Networks or Transformers more like human vision? </a:t>
            </a:r>
            <a:r>
              <a:rPr lang="en-US" altLang="ko-KR" sz="1000" b="1" i="0" dirty="0">
                <a:effectLst/>
                <a:latin typeface="Spoqa Han Sans Neo" panose="020B0500000000000000" pitchFamily="34" charset="-127"/>
                <a:ea typeface="Spoqa Han Sans Neo" panose="020B0500000000000000" pitchFamily="34" charset="-127"/>
              </a:rPr>
              <a:t>by Tuli et al. 2021</a:t>
            </a:r>
            <a:endParaRPr lang="en-US" altLang="ko-KR" sz="1000" b="1" dirty="0">
              <a:latin typeface="Spoqa Han Sans Neo" panose="020B0500000000000000" pitchFamily="34" charset="-127"/>
              <a:ea typeface="Spoqa Han Sans Neo" panose="020B0500000000000000" pitchFamily="34" charset="-127"/>
            </a:endParaRPr>
          </a:p>
        </p:txBody>
      </p:sp>
      <p:pic>
        <p:nvPicPr>
          <p:cNvPr id="3" name="그림 2">
            <a:extLst>
              <a:ext uri="{FF2B5EF4-FFF2-40B4-BE49-F238E27FC236}">
                <a16:creationId xmlns:a16="http://schemas.microsoft.com/office/drawing/2014/main" id="{0CDD0D4B-47F6-511A-66D4-920FDEB3B071}"/>
              </a:ext>
            </a:extLst>
          </p:cNvPr>
          <p:cNvPicPr>
            <a:picLocks noChangeAspect="1"/>
          </p:cNvPicPr>
          <p:nvPr/>
        </p:nvPicPr>
        <p:blipFill>
          <a:blip r:embed="rId3"/>
          <a:stretch>
            <a:fillRect/>
          </a:stretch>
        </p:blipFill>
        <p:spPr>
          <a:xfrm>
            <a:off x="1779471" y="2703574"/>
            <a:ext cx="8633057" cy="3402392"/>
          </a:xfrm>
          <a:prstGeom prst="rect">
            <a:avLst/>
          </a:prstGeom>
        </p:spPr>
      </p:pic>
    </p:spTree>
    <p:extLst>
      <p:ext uri="{BB962C8B-B14F-4D97-AF65-F5344CB8AC3E}">
        <p14:creationId xmlns:p14="http://schemas.microsoft.com/office/powerpoint/2010/main" val="1168937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7</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3433953"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Shape</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vs</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Texture</a:t>
            </a: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88184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Stylized ImageNet</a:t>
            </a: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ImageNet-Trained CNNs Are Biased Towards Texture; Increasing Shape Bias Improves Accuracy And Robustness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i="0" dirty="0" err="1">
                <a:effectLst/>
                <a:latin typeface="Spoqa Han Sans Neo" panose="020B0500000000000000" pitchFamily="34" charset="-127"/>
                <a:ea typeface="Spoqa Han Sans Neo" panose="020B0500000000000000" pitchFamily="34" charset="-127"/>
              </a:rPr>
              <a:t>Geirhos</a:t>
            </a:r>
            <a:r>
              <a:rPr lang="en-US" altLang="ko-KR" sz="1000" b="1" i="0" dirty="0">
                <a:effectLst/>
                <a:latin typeface="Spoqa Han Sans Neo" panose="020B0500000000000000" pitchFamily="34" charset="-127"/>
                <a:ea typeface="Spoqa Han Sans Neo" panose="020B0500000000000000" pitchFamily="34" charset="-127"/>
              </a:rPr>
              <a:t> et al. 2019</a:t>
            </a:r>
            <a:endParaRPr lang="en-US" altLang="ko-KR" sz="1000" b="1" dirty="0">
              <a:latin typeface="Spoqa Han Sans Neo" panose="020B0500000000000000" pitchFamily="34" charset="-127"/>
              <a:ea typeface="Spoqa Han Sans Neo" panose="020B0500000000000000" pitchFamily="34" charset="-127"/>
            </a:endParaRPr>
          </a:p>
        </p:txBody>
      </p:sp>
      <p:pic>
        <p:nvPicPr>
          <p:cNvPr id="11" name="그림 10">
            <a:extLst>
              <a:ext uri="{FF2B5EF4-FFF2-40B4-BE49-F238E27FC236}">
                <a16:creationId xmlns:a16="http://schemas.microsoft.com/office/drawing/2014/main" id="{96441B1D-5049-0E01-20C0-A4ABF58D0E7E}"/>
              </a:ext>
            </a:extLst>
          </p:cNvPr>
          <p:cNvPicPr>
            <a:picLocks noChangeAspect="1"/>
          </p:cNvPicPr>
          <p:nvPr/>
        </p:nvPicPr>
        <p:blipFill>
          <a:blip r:embed="rId3"/>
          <a:stretch>
            <a:fillRect/>
          </a:stretch>
        </p:blipFill>
        <p:spPr>
          <a:xfrm>
            <a:off x="6695188" y="259594"/>
            <a:ext cx="4946903" cy="6293055"/>
          </a:xfrm>
          <a:prstGeom prst="rect">
            <a:avLst/>
          </a:prstGeom>
        </p:spPr>
      </p:pic>
    </p:spTree>
    <p:extLst>
      <p:ext uri="{BB962C8B-B14F-4D97-AF65-F5344CB8AC3E}">
        <p14:creationId xmlns:p14="http://schemas.microsoft.com/office/powerpoint/2010/main" val="49455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8</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3433953"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Shape</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vs</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Texture</a:t>
            </a: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129471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ImageNet</a:t>
            </a:r>
            <a:r>
              <a:rPr lang="ko-KR" altLang="en-US" dirty="0">
                <a:latin typeface="Spoqa Han Sans Neo" panose="020B0500000000000000" pitchFamily="34" charset="-127"/>
                <a:ea typeface="Spoqa Han Sans Neo" panose="020B0500000000000000" pitchFamily="34" charset="-127"/>
              </a:rPr>
              <a:t>으로 </a:t>
            </a:r>
            <a:r>
              <a:rPr lang="en-US" altLang="ko-KR" dirty="0">
                <a:latin typeface="Spoqa Han Sans Neo" panose="020B0500000000000000" pitchFamily="34" charset="-127"/>
                <a:ea typeface="Spoqa Han Sans Neo" panose="020B0500000000000000" pitchFamily="34" charset="-127"/>
              </a:rPr>
              <a:t>training</a:t>
            </a: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Stylized ImageNet</a:t>
            </a:r>
            <a:r>
              <a:rPr lang="ko-KR" altLang="en-US" dirty="0">
                <a:latin typeface="Spoqa Han Sans Neo" panose="020B0500000000000000" pitchFamily="34" charset="-127"/>
                <a:ea typeface="Spoqa Han Sans Neo" panose="020B0500000000000000" pitchFamily="34" charset="-127"/>
              </a:rPr>
              <a:t>으로 평가</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계열이 </a:t>
            </a:r>
            <a:r>
              <a:rPr lang="en-US" altLang="ko-KR" dirty="0">
                <a:latin typeface="Spoqa Han Sans Neo" panose="020B0500000000000000" pitchFamily="34" charset="-127"/>
                <a:ea typeface="Spoqa Han Sans Neo" panose="020B0500000000000000" pitchFamily="34" charset="-127"/>
              </a:rPr>
              <a:t>CNNs </a:t>
            </a:r>
            <a:r>
              <a:rPr lang="ko-KR" altLang="en-US" dirty="0">
                <a:latin typeface="Spoqa Han Sans Neo" panose="020B0500000000000000" pitchFamily="34" charset="-127"/>
                <a:ea typeface="Spoqa Han Sans Neo" panose="020B0500000000000000" pitchFamily="34" charset="-127"/>
              </a:rPr>
              <a:t>계열보다 </a:t>
            </a:r>
            <a:r>
              <a:rPr lang="en-US" altLang="ko-KR" dirty="0">
                <a:latin typeface="Spoqa Han Sans Neo" panose="020B0500000000000000" pitchFamily="34" charset="-127"/>
                <a:ea typeface="Spoqa Han Sans Neo" panose="020B0500000000000000" pitchFamily="34" charset="-127"/>
              </a:rPr>
              <a:t>shape bias</a:t>
            </a:r>
            <a:r>
              <a:rPr lang="ko-KR" altLang="en-US" dirty="0">
                <a:latin typeface="Spoqa Han Sans Neo" panose="020B0500000000000000" pitchFamily="34" charset="-127"/>
                <a:ea typeface="Spoqa Han Sans Neo" panose="020B0500000000000000" pitchFamily="34" charset="-127"/>
              </a:rPr>
              <a:t>가 더 높음</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Are Convolutional Neural Networks or Transformers more like human vision? </a:t>
            </a:r>
            <a:r>
              <a:rPr lang="en-US" altLang="ko-KR" sz="1000" b="1" i="0" dirty="0">
                <a:effectLst/>
                <a:latin typeface="Spoqa Han Sans Neo" panose="020B0500000000000000" pitchFamily="34" charset="-127"/>
                <a:ea typeface="Spoqa Han Sans Neo" panose="020B0500000000000000" pitchFamily="34" charset="-127"/>
              </a:rPr>
              <a:t>by Tuli et al. 2021</a:t>
            </a:r>
            <a:endParaRPr lang="en-US" altLang="ko-KR" sz="1000" b="1" dirty="0">
              <a:latin typeface="Spoqa Han Sans Neo" panose="020B0500000000000000" pitchFamily="34" charset="-127"/>
              <a:ea typeface="Spoqa Han Sans Neo" panose="020B0500000000000000" pitchFamily="34" charset="-127"/>
            </a:endParaRPr>
          </a:p>
        </p:txBody>
      </p:sp>
      <p:pic>
        <p:nvPicPr>
          <p:cNvPr id="4" name="그림 3">
            <a:extLst>
              <a:ext uri="{FF2B5EF4-FFF2-40B4-BE49-F238E27FC236}">
                <a16:creationId xmlns:a16="http://schemas.microsoft.com/office/drawing/2014/main" id="{A8EBC541-DEC4-EB58-3AE0-83E4AE749C55}"/>
              </a:ext>
            </a:extLst>
          </p:cNvPr>
          <p:cNvPicPr>
            <a:picLocks noChangeAspect="1"/>
          </p:cNvPicPr>
          <p:nvPr/>
        </p:nvPicPr>
        <p:blipFill>
          <a:blip r:embed="rId3"/>
          <a:stretch>
            <a:fillRect/>
          </a:stretch>
        </p:blipFill>
        <p:spPr>
          <a:xfrm>
            <a:off x="6876047" y="259594"/>
            <a:ext cx="4651834" cy="6085450"/>
          </a:xfrm>
          <a:prstGeom prst="rect">
            <a:avLst/>
          </a:prstGeom>
        </p:spPr>
      </p:pic>
      <p:pic>
        <p:nvPicPr>
          <p:cNvPr id="3" name="그림 2">
            <a:extLst>
              <a:ext uri="{FF2B5EF4-FFF2-40B4-BE49-F238E27FC236}">
                <a16:creationId xmlns:a16="http://schemas.microsoft.com/office/drawing/2014/main" id="{991AA0A3-3BB0-58A8-DD99-E7FBE80C71A4}"/>
              </a:ext>
            </a:extLst>
          </p:cNvPr>
          <p:cNvPicPr>
            <a:picLocks noChangeAspect="1"/>
          </p:cNvPicPr>
          <p:nvPr/>
        </p:nvPicPr>
        <p:blipFill rotWithShape="1">
          <a:blip r:embed="rId4"/>
          <a:srcRect l="66652" t="922" r="14081" b="50702"/>
          <a:stretch/>
        </p:blipFill>
        <p:spPr>
          <a:xfrm>
            <a:off x="1267890" y="2895037"/>
            <a:ext cx="2403567" cy="2378399"/>
          </a:xfrm>
          <a:prstGeom prst="rect">
            <a:avLst/>
          </a:prstGeom>
        </p:spPr>
      </p:pic>
    </p:spTree>
    <p:extLst>
      <p:ext uri="{BB962C8B-B14F-4D97-AF65-F5344CB8AC3E}">
        <p14:creationId xmlns:p14="http://schemas.microsoft.com/office/powerpoint/2010/main" val="344143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9</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3433953"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Shape</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vs</a:t>
            </a:r>
            <a:r>
              <a:rPr lang="ko-KR" altLang="en-US" sz="3000" dirty="0">
                <a:solidFill>
                  <a:srgbClr val="151F6A"/>
                </a:solidFill>
                <a:latin typeface="Spoqa Han Sans Neo Bold" panose="020B0800000000000000" pitchFamily="34" charset="-127"/>
                <a:ea typeface="Spoqa Han Sans Neo Bold" panose="020B0800000000000000" pitchFamily="34" charset="-127"/>
              </a:rPr>
              <a:t> </a:t>
            </a:r>
            <a:r>
              <a:rPr lang="en-US" altLang="ko-KR" sz="3000" dirty="0">
                <a:solidFill>
                  <a:srgbClr val="151F6A"/>
                </a:solidFill>
                <a:latin typeface="Spoqa Han Sans Neo Bold" panose="020B0800000000000000" pitchFamily="34" charset="-127"/>
                <a:ea typeface="Spoqa Han Sans Neo Bold" panose="020B0800000000000000" pitchFamily="34" charset="-127"/>
              </a:rPr>
              <a:t>Texture</a:t>
            </a: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462133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Data augmentation</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Rotation</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+-90,</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180</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randomly</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Random cutout -&gt; 2x2 </a:t>
            </a:r>
            <a:r>
              <a:rPr lang="en-US" altLang="ko-KR" dirty="0" err="1">
                <a:latin typeface="Spoqa Han Sans Neo" panose="020B0500000000000000" pitchFamily="34" charset="-127"/>
                <a:ea typeface="Spoqa Han Sans Neo" panose="020B0500000000000000" pitchFamily="34" charset="-127"/>
              </a:rPr>
              <a:t>px</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이미지 크기의 절반</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Sobel filtering</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Gaussian blur 3x3</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Color distortion </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Gaussian noise </a:t>
            </a:r>
          </a:p>
          <a:p>
            <a:pPr>
              <a:lnSpc>
                <a:spcPct val="150000"/>
              </a:lnSpc>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shape bias </a:t>
            </a:r>
            <a:r>
              <a:rPr lang="ko-KR" altLang="en-US" dirty="0">
                <a:latin typeface="Spoqa Han Sans Neo" panose="020B0500000000000000" pitchFamily="34" charset="-127"/>
                <a:ea typeface="Spoqa Han Sans Neo" panose="020B0500000000000000" pitchFamily="34" charset="-127"/>
              </a:rPr>
              <a:t>증가</a:t>
            </a:r>
            <a:r>
              <a:rPr lang="en-US" altLang="ko-KR" dirty="0">
                <a:latin typeface="Spoqa Han Sans Neo" panose="020B0500000000000000" pitchFamily="34" charset="-127"/>
                <a:ea typeface="Spoqa Han Sans Neo" panose="020B0500000000000000" pitchFamily="34" charset="-127"/>
              </a:rPr>
              <a:t>: color distortion, noise, blur</a:t>
            </a: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texture bias </a:t>
            </a:r>
            <a:r>
              <a:rPr lang="ko-KR" altLang="en-US" dirty="0">
                <a:latin typeface="Spoqa Han Sans Neo" panose="020B0500000000000000" pitchFamily="34" charset="-127"/>
                <a:ea typeface="Spoqa Han Sans Neo" panose="020B0500000000000000" pitchFamily="34" charset="-127"/>
              </a:rPr>
              <a:t>증가</a:t>
            </a:r>
            <a:r>
              <a:rPr lang="en-US" altLang="ko-KR" dirty="0">
                <a:latin typeface="Spoqa Han Sans Neo" panose="020B0500000000000000" pitchFamily="34" charset="-127"/>
                <a:ea typeface="Spoqa Han Sans Neo" panose="020B0500000000000000" pitchFamily="34" charset="-127"/>
              </a:rPr>
              <a:t>: random</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crop</a:t>
            </a:r>
          </a:p>
          <a:p>
            <a:pPr lvl="1">
              <a:lnSpc>
                <a:spcPct val="150000"/>
              </a:lnSpc>
            </a:pP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Are Convolutional Neural Networks or Transformers more like human vision? </a:t>
            </a:r>
            <a:r>
              <a:rPr lang="en-US" altLang="ko-KR" sz="1000" b="1" i="0" dirty="0">
                <a:effectLst/>
                <a:latin typeface="Spoqa Han Sans Neo" panose="020B0500000000000000" pitchFamily="34" charset="-127"/>
                <a:ea typeface="Spoqa Han Sans Neo" panose="020B0500000000000000" pitchFamily="34" charset="-127"/>
              </a:rPr>
              <a:t>by Tuli et al. 2021</a:t>
            </a:r>
            <a:endParaRPr lang="en-US" altLang="ko-KR" sz="1000" b="1" dirty="0">
              <a:latin typeface="Spoqa Han Sans Neo" panose="020B0500000000000000" pitchFamily="34" charset="-127"/>
              <a:ea typeface="Spoqa Han Sans Neo" panose="020B0500000000000000" pitchFamily="34" charset="-127"/>
            </a:endParaRPr>
          </a:p>
        </p:txBody>
      </p:sp>
      <p:pic>
        <p:nvPicPr>
          <p:cNvPr id="4" name="그림 3">
            <a:extLst>
              <a:ext uri="{FF2B5EF4-FFF2-40B4-BE49-F238E27FC236}">
                <a16:creationId xmlns:a16="http://schemas.microsoft.com/office/drawing/2014/main" id="{130CA5BF-066C-9478-364F-CE8F3DFDF88F}"/>
              </a:ext>
            </a:extLst>
          </p:cNvPr>
          <p:cNvPicPr>
            <a:picLocks noChangeAspect="1"/>
          </p:cNvPicPr>
          <p:nvPr/>
        </p:nvPicPr>
        <p:blipFill>
          <a:blip r:embed="rId3"/>
          <a:stretch>
            <a:fillRect/>
          </a:stretch>
        </p:blipFill>
        <p:spPr>
          <a:xfrm>
            <a:off x="6876047" y="259594"/>
            <a:ext cx="4715403" cy="6026906"/>
          </a:xfrm>
          <a:prstGeom prst="rect">
            <a:avLst/>
          </a:prstGeom>
        </p:spPr>
      </p:pic>
    </p:spTree>
    <p:extLst>
      <p:ext uri="{BB962C8B-B14F-4D97-AF65-F5344CB8AC3E}">
        <p14:creationId xmlns:p14="http://schemas.microsoft.com/office/powerpoint/2010/main" val="3402042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10</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39379" y="2828835"/>
            <a:ext cx="7513242" cy="1200329"/>
          </a:xfrm>
          <a:prstGeom prst="rect">
            <a:avLst/>
          </a:prstGeom>
          <a:noFill/>
        </p:spPr>
        <p:txBody>
          <a:bodyPr wrap="square" rtlCol="0">
            <a:spAutoFit/>
          </a:bodyPr>
          <a:lstStyle/>
          <a:p>
            <a:r>
              <a:rPr lang="en-US" altLang="ko-KR" sz="3600" dirty="0">
                <a:solidFill>
                  <a:srgbClr val="151F6A"/>
                </a:solidFill>
                <a:latin typeface="Spoqa Han Sans Neo Bold" panose="020B0800000000000000" pitchFamily="34" charset="-127"/>
                <a:ea typeface="Spoqa Han Sans Neo Bold" panose="020B0800000000000000" pitchFamily="34" charset="-127"/>
              </a:rPr>
              <a:t>Do Vision Transformers See Like Convolutional Neural Networks?</a:t>
            </a:r>
            <a:endParaRPr lang="ko-KR" altLang="en-US" sz="3600" dirty="0">
              <a:solidFill>
                <a:srgbClr val="151F6A"/>
              </a:solidFill>
              <a:latin typeface="Spoqa Han Sans Neo Bold" panose="020B0800000000000000" pitchFamily="34" charset="-127"/>
              <a:ea typeface="Spoqa Han Sans Neo Bold" panose="020B0800000000000000" pitchFamily="34" charset="-127"/>
            </a:endParaRPr>
          </a:p>
        </p:txBody>
      </p:sp>
    </p:spTree>
    <p:extLst>
      <p:ext uri="{BB962C8B-B14F-4D97-AF65-F5344CB8AC3E}">
        <p14:creationId xmlns:p14="http://schemas.microsoft.com/office/powerpoint/2010/main" val="838307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11</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8284640"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Similarity between lower and higher layers</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2031325"/>
          </a:xfrm>
          <a:prstGeom prst="rect">
            <a:avLst/>
          </a:prstGeom>
          <a:noFill/>
        </p:spPr>
        <p:txBody>
          <a:bodyPr wrap="square">
            <a:spAutoFit/>
          </a:bodyPr>
          <a:lstStyle/>
          <a:p>
            <a:pPr marL="342900" indent="-342900">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모델의</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각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의</a:t>
            </a:r>
            <a:r>
              <a:rPr lang="en-US" altLang="ko-KR" dirty="0">
                <a:latin typeface="Spoqa Han Sans Neo" panose="020B0500000000000000" pitchFamily="34" charset="-127"/>
                <a:ea typeface="Spoqa Han Sans Neo" panose="020B0500000000000000" pitchFamily="34" charset="-127"/>
              </a:rPr>
              <a:t> feature map</a:t>
            </a:r>
            <a:r>
              <a:rPr lang="ko-KR" altLang="en-US" dirty="0">
                <a:latin typeface="Spoqa Han Sans Neo" panose="020B0500000000000000" pitchFamily="34" charset="-127"/>
                <a:ea typeface="Spoqa Han Sans Neo" panose="020B0500000000000000" pitchFamily="34" charset="-127"/>
              </a:rPr>
              <a:t>간의 </a:t>
            </a:r>
            <a:r>
              <a:rPr lang="en-US" altLang="ko-KR" dirty="0">
                <a:latin typeface="Spoqa Han Sans Neo" panose="020B0500000000000000" pitchFamily="34" charset="-127"/>
                <a:ea typeface="Spoqa Han Sans Neo" panose="020B0500000000000000" pitchFamily="34" charset="-127"/>
              </a:rPr>
              <a:t>similarity</a:t>
            </a:r>
            <a:r>
              <a:rPr lang="ko-KR" altLang="en-US" dirty="0">
                <a:latin typeface="Spoqa Han Sans Neo" panose="020B0500000000000000" pitchFamily="34" charset="-127"/>
                <a:ea typeface="Spoqa Han Sans Neo" panose="020B0500000000000000" pitchFamily="34" charset="-127"/>
              </a:rPr>
              <a:t>를 측정</a:t>
            </a:r>
            <a:endParaRPr lang="en-US" altLang="ko-KR" dirty="0">
              <a:latin typeface="Spoqa Han Sans Neo" panose="020B0500000000000000" pitchFamily="34" charset="-127"/>
              <a:ea typeface="Spoqa Han Sans Neo" panose="020B0500000000000000" pitchFamily="34" charset="-127"/>
            </a:endParaRPr>
          </a:p>
          <a:p>
            <a:pPr marL="342900" indent="-342900">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endParaRPr lang="en-US" altLang="ko-KR" dirty="0">
              <a:latin typeface="Spoqa Han Sans Neo" panose="020B0500000000000000" pitchFamily="34" charset="-127"/>
              <a:ea typeface="Spoqa Han Sans Neo" panose="020B0500000000000000" pitchFamily="34" charset="-127"/>
            </a:endParaRPr>
          </a:p>
          <a:p>
            <a:pPr marL="800100" lvl="1" indent="-342900">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higher layer </a:t>
            </a:r>
            <a:r>
              <a:rPr lang="ko-KR" altLang="en-US" dirty="0">
                <a:latin typeface="Spoqa Han Sans Neo" panose="020B0500000000000000" pitchFamily="34" charset="-127"/>
                <a:ea typeface="Spoqa Han Sans Neo" panose="020B0500000000000000" pitchFamily="34" charset="-127"/>
              </a:rPr>
              <a:t>사이의 </a:t>
            </a:r>
            <a:r>
              <a:rPr lang="en-US" altLang="ko-KR" dirty="0">
                <a:latin typeface="Spoqa Han Sans Neo" panose="020B0500000000000000" pitchFamily="34" charset="-127"/>
                <a:ea typeface="Spoqa Han Sans Neo" panose="020B0500000000000000" pitchFamily="34" charset="-127"/>
              </a:rPr>
              <a:t>large similarity</a:t>
            </a:r>
            <a:r>
              <a:rPr lang="ko-KR" altLang="en-US" dirty="0">
                <a:latin typeface="Spoqa Han Sans Neo" panose="020B0500000000000000" pitchFamily="34" charset="-127"/>
                <a:ea typeface="Spoqa Han Sans Neo" panose="020B0500000000000000" pitchFamily="34" charset="-127"/>
              </a:rPr>
              <a:t>를 가짐</a:t>
            </a:r>
            <a:endParaRPr lang="en-US" altLang="ko-KR" dirty="0">
              <a:latin typeface="Spoqa Han Sans Neo" panose="020B0500000000000000" pitchFamily="34" charset="-127"/>
              <a:ea typeface="Spoqa Han Sans Neo" panose="020B0500000000000000" pitchFamily="34" charset="-127"/>
            </a:endParaRPr>
          </a:p>
          <a:p>
            <a:pPr marL="800100" lvl="1" indent="-342900">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의 정보가 </a:t>
            </a:r>
            <a:r>
              <a:rPr lang="en-US" altLang="ko-KR" dirty="0">
                <a:latin typeface="Spoqa Han Sans Neo" panose="020B0500000000000000" pitchFamily="34" charset="-127"/>
                <a:ea typeface="Spoqa Han Sans Neo" panose="020B0500000000000000" pitchFamily="34" charset="-127"/>
              </a:rPr>
              <a:t>higher layer</a:t>
            </a:r>
            <a:r>
              <a:rPr lang="ko-KR" altLang="en-US" dirty="0">
                <a:latin typeface="Spoqa Han Sans Neo" panose="020B0500000000000000" pitchFamily="34" charset="-127"/>
                <a:ea typeface="Spoqa Han Sans Neo" panose="020B0500000000000000" pitchFamily="34" charset="-127"/>
              </a:rPr>
              <a:t>에도 지속적으로 공유됨</a:t>
            </a:r>
            <a:endParaRPr lang="en-US" altLang="ko-KR" dirty="0">
              <a:latin typeface="Spoqa Han Sans Neo" panose="020B0500000000000000" pitchFamily="34" charset="-127"/>
              <a:ea typeface="Spoqa Han Sans Neo" panose="020B0500000000000000" pitchFamily="34" charset="-127"/>
            </a:endParaRPr>
          </a:p>
          <a:p>
            <a:pPr marL="342900" indent="-342900">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ResNet</a:t>
            </a:r>
            <a:endParaRPr lang="en-US" altLang="ko-KR" dirty="0">
              <a:latin typeface="Spoqa Han Sans Neo" panose="020B0500000000000000" pitchFamily="34" charset="-127"/>
              <a:ea typeface="Spoqa Han Sans Neo" panose="020B0500000000000000" pitchFamily="34" charset="-127"/>
            </a:endParaRPr>
          </a:p>
          <a:p>
            <a:pPr marL="800100" lvl="1" indent="-342900">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higher</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layer </a:t>
            </a:r>
            <a:r>
              <a:rPr lang="ko-KR" altLang="en-US" dirty="0">
                <a:latin typeface="Spoqa Han Sans Neo" panose="020B0500000000000000" pitchFamily="34" charset="-127"/>
                <a:ea typeface="Spoqa Han Sans Neo" panose="020B0500000000000000" pitchFamily="34" charset="-127"/>
              </a:rPr>
              <a:t>사이의 </a:t>
            </a:r>
            <a:r>
              <a:rPr lang="en-US" altLang="ko-KR" dirty="0">
                <a:latin typeface="Spoqa Han Sans Neo" panose="020B0500000000000000" pitchFamily="34" charset="-127"/>
                <a:ea typeface="Spoqa Han Sans Neo" panose="020B0500000000000000" pitchFamily="34" charset="-127"/>
              </a:rPr>
              <a:t>small similarity</a:t>
            </a:r>
            <a:r>
              <a:rPr lang="ko-KR" altLang="en-US" dirty="0">
                <a:latin typeface="Spoqa Han Sans Neo" panose="020B0500000000000000" pitchFamily="34" charset="-127"/>
                <a:ea typeface="Spoqa Han Sans Neo" panose="020B0500000000000000" pitchFamily="34" charset="-127"/>
              </a:rPr>
              <a:t>를 가짐</a:t>
            </a:r>
            <a:endParaRPr lang="en-US" altLang="ko-KR" dirty="0">
              <a:latin typeface="Spoqa Han Sans Neo" panose="020B0500000000000000" pitchFamily="34" charset="-127"/>
              <a:ea typeface="Spoqa Han Sans Neo" panose="020B0500000000000000" pitchFamily="34" charset="-127"/>
            </a:endParaRPr>
          </a:p>
          <a:p>
            <a:pPr marL="800100" lvl="1" indent="-342900">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의 정보가 </a:t>
            </a:r>
            <a:r>
              <a:rPr lang="en-US" altLang="ko-KR" dirty="0">
                <a:latin typeface="Spoqa Han Sans Neo" panose="020B0500000000000000" pitchFamily="34" charset="-127"/>
                <a:ea typeface="Spoqa Han Sans Neo" panose="020B0500000000000000" pitchFamily="34" charset="-127"/>
              </a:rPr>
              <a:t>higher layer</a:t>
            </a:r>
            <a:r>
              <a:rPr lang="ko-KR" altLang="en-US" dirty="0">
                <a:latin typeface="Spoqa Han Sans Neo" panose="020B0500000000000000" pitchFamily="34" charset="-127"/>
                <a:ea typeface="Spoqa Han Sans Neo" panose="020B0500000000000000" pitchFamily="34" charset="-127"/>
              </a:rPr>
              <a:t>에 공유되지 못함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Do Vision Transformers See Like Convolutional Neural Networks? </a:t>
            </a:r>
            <a:r>
              <a:rPr lang="en-US" altLang="ko-KR" sz="1000" b="1" i="0" dirty="0">
                <a:effectLst/>
                <a:latin typeface="Spoqa Han Sans Neo" panose="020B0500000000000000" pitchFamily="34" charset="-127"/>
                <a:ea typeface="Spoqa Han Sans Neo" panose="020B0500000000000000" pitchFamily="34" charset="-127"/>
              </a:rPr>
              <a:t>by Raghu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A8F1E71D-6AD1-9407-7C8B-46AD45489B8B}"/>
              </a:ext>
            </a:extLst>
          </p:cNvPr>
          <p:cNvPicPr>
            <a:picLocks noChangeAspect="1"/>
          </p:cNvPicPr>
          <p:nvPr/>
        </p:nvPicPr>
        <p:blipFill>
          <a:blip r:embed="rId3"/>
          <a:stretch>
            <a:fillRect/>
          </a:stretch>
        </p:blipFill>
        <p:spPr>
          <a:xfrm>
            <a:off x="1920979" y="2908528"/>
            <a:ext cx="8350042" cy="3646706"/>
          </a:xfrm>
          <a:prstGeom prst="rect">
            <a:avLst/>
          </a:prstGeom>
        </p:spPr>
      </p:pic>
    </p:spTree>
    <p:extLst>
      <p:ext uri="{BB962C8B-B14F-4D97-AF65-F5344CB8AC3E}">
        <p14:creationId xmlns:p14="http://schemas.microsoft.com/office/powerpoint/2010/main" val="2716406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12</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8284640"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Similarity between lower and higher layers</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17102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두 모델의</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각 </a:t>
            </a:r>
            <a:r>
              <a:rPr lang="en-US" altLang="ko-KR" dirty="0">
                <a:latin typeface="Spoqa Han Sans Neo" panose="020B0500000000000000" pitchFamily="34" charset="-127"/>
                <a:ea typeface="Spoqa Han Sans Neo" panose="020B0500000000000000" pitchFamily="34" charset="-127"/>
              </a:rPr>
              <a:t>layer </a:t>
            </a:r>
            <a:r>
              <a:rPr lang="ko-KR" altLang="en-US" dirty="0">
                <a:latin typeface="Spoqa Han Sans Neo" panose="020B0500000000000000" pitchFamily="34" charset="-127"/>
                <a:ea typeface="Spoqa Han Sans Neo" panose="020B0500000000000000" pitchFamily="34" charset="-127"/>
              </a:rPr>
              <a:t>사이의 </a:t>
            </a:r>
            <a:r>
              <a:rPr lang="en-US" altLang="ko-KR" dirty="0">
                <a:latin typeface="Spoqa Han Sans Neo" panose="020B0500000000000000" pitchFamily="34" charset="-127"/>
                <a:ea typeface="Spoqa Han Sans Neo" panose="020B0500000000000000" pitchFamily="34" charset="-127"/>
              </a:rPr>
              <a:t>feature map</a:t>
            </a:r>
            <a:r>
              <a:rPr lang="ko-KR" altLang="en-US" dirty="0">
                <a:latin typeface="Spoqa Han Sans Neo" panose="020B0500000000000000" pitchFamily="34" charset="-127"/>
                <a:ea typeface="Spoqa Han Sans Neo" panose="020B0500000000000000" pitchFamily="34" charset="-127"/>
              </a:rPr>
              <a:t>간의 </a:t>
            </a:r>
            <a:r>
              <a:rPr lang="en-US" altLang="ko-KR" dirty="0">
                <a:latin typeface="Spoqa Han Sans Neo" panose="020B0500000000000000" pitchFamily="34" charset="-127"/>
                <a:ea typeface="Spoqa Han Sans Neo" panose="020B0500000000000000" pitchFamily="34" charset="-127"/>
              </a:rPr>
              <a:t>similarity</a:t>
            </a:r>
            <a:r>
              <a:rPr lang="ko-KR" altLang="en-US" dirty="0">
                <a:latin typeface="Spoqa Han Sans Neo" panose="020B0500000000000000" pitchFamily="34" charset="-127"/>
                <a:ea typeface="Spoqa Han Sans Neo" panose="020B0500000000000000" pitchFamily="34" charset="-127"/>
              </a:rPr>
              <a:t>를 측정</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와 </a:t>
            </a: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의 전체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large similarity</a:t>
            </a:r>
            <a:r>
              <a:rPr lang="ko-KR" altLang="en-US" dirty="0">
                <a:latin typeface="Spoqa Han Sans Neo" panose="020B0500000000000000" pitchFamily="34" charset="-127"/>
                <a:ea typeface="Spoqa Han Sans Neo" panose="020B0500000000000000" pitchFamily="34" charset="-127"/>
              </a:rPr>
              <a:t>를</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가짐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에서 이미 </a:t>
            </a: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에서 고려하는 모든 정보를 포함</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higher layer</a:t>
            </a:r>
            <a:r>
              <a:rPr lang="ko-KR" altLang="en-US" dirty="0">
                <a:latin typeface="Spoqa Han Sans Neo" panose="020B0500000000000000" pitchFamily="34" charset="-127"/>
                <a:ea typeface="Spoqa Han Sans Neo" panose="020B0500000000000000" pitchFamily="34" charset="-127"/>
              </a:rPr>
              <a:t>에서는 </a:t>
            </a: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에서 고려하지 못한 정보를 포함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Do Vision Transformers See Like Convolutional Neural Networks? </a:t>
            </a:r>
            <a:r>
              <a:rPr lang="en-US" altLang="ko-KR" sz="1000" b="1" i="0" dirty="0">
                <a:effectLst/>
                <a:latin typeface="Spoqa Han Sans Neo" panose="020B0500000000000000" pitchFamily="34" charset="-127"/>
                <a:ea typeface="Spoqa Han Sans Neo" panose="020B0500000000000000" pitchFamily="34" charset="-127"/>
              </a:rPr>
              <a:t>by Raghu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72E578D2-E2B6-05FC-C996-AA2667F11DC8}"/>
              </a:ext>
            </a:extLst>
          </p:cNvPr>
          <p:cNvPicPr>
            <a:picLocks noChangeAspect="1"/>
          </p:cNvPicPr>
          <p:nvPr/>
        </p:nvPicPr>
        <p:blipFill>
          <a:blip r:embed="rId3"/>
          <a:stretch>
            <a:fillRect/>
          </a:stretch>
        </p:blipFill>
        <p:spPr>
          <a:xfrm>
            <a:off x="308652" y="2678626"/>
            <a:ext cx="11574695" cy="3877029"/>
          </a:xfrm>
          <a:prstGeom prst="rect">
            <a:avLst/>
          </a:prstGeom>
        </p:spPr>
      </p:pic>
    </p:spTree>
    <p:extLst>
      <p:ext uri="{BB962C8B-B14F-4D97-AF65-F5344CB8AC3E}">
        <p14:creationId xmlns:p14="http://schemas.microsoft.com/office/powerpoint/2010/main" val="2090392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13</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8284640"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Similarity between lower and higher layers</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6025063" cy="544969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JFT-300</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dataset</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에서는 </a:t>
            </a:r>
            <a:r>
              <a:rPr lang="en-US" altLang="ko-KR" dirty="0">
                <a:latin typeface="Spoqa Han Sans Neo" panose="020B0500000000000000" pitchFamily="34" charset="-127"/>
                <a:ea typeface="Spoqa Han Sans Neo" panose="020B0500000000000000" pitchFamily="34" charset="-127"/>
              </a:rPr>
              <a:t>local</a:t>
            </a:r>
            <a:r>
              <a:rPr lang="ko-KR" altLang="en-US" dirty="0">
                <a:latin typeface="Spoqa Han Sans Neo" panose="020B0500000000000000" pitchFamily="34" charset="-127"/>
                <a:ea typeface="Spoqa Han Sans Neo" panose="020B0500000000000000" pitchFamily="34" charset="-127"/>
              </a:rPr>
              <a:t>한 정보와 </a:t>
            </a:r>
            <a:r>
              <a:rPr lang="en-US" altLang="ko-KR" dirty="0">
                <a:latin typeface="Spoqa Han Sans Neo" panose="020B0500000000000000" pitchFamily="34" charset="-127"/>
                <a:ea typeface="Spoqa Han Sans Neo" panose="020B0500000000000000" pitchFamily="34" charset="-127"/>
              </a:rPr>
              <a:t>global</a:t>
            </a:r>
            <a:r>
              <a:rPr lang="ko-KR" altLang="en-US" dirty="0">
                <a:latin typeface="Spoqa Han Sans Neo" panose="020B0500000000000000" pitchFamily="34" charset="-127"/>
                <a:ea typeface="Spoqa Han Sans Neo" panose="020B0500000000000000" pitchFamily="34" charset="-127"/>
              </a:rPr>
              <a:t>한 정보를 모두 포함</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higher layer</a:t>
            </a:r>
            <a:r>
              <a:rPr lang="ko-KR" altLang="en-US" dirty="0">
                <a:latin typeface="Spoqa Han Sans Neo" panose="020B0500000000000000" pitchFamily="34" charset="-127"/>
                <a:ea typeface="Spoqa Han Sans Neo" panose="020B0500000000000000" pitchFamily="34" charset="-127"/>
              </a:rPr>
              <a:t>에서는 </a:t>
            </a:r>
            <a:r>
              <a:rPr lang="en-US" altLang="ko-KR" dirty="0">
                <a:latin typeface="Spoqa Han Sans Neo" panose="020B0500000000000000" pitchFamily="34" charset="-127"/>
                <a:ea typeface="Spoqa Han Sans Neo" panose="020B0500000000000000" pitchFamily="34" charset="-127"/>
              </a:rPr>
              <a:t>global</a:t>
            </a:r>
            <a:r>
              <a:rPr lang="ko-KR" altLang="en-US" dirty="0">
                <a:latin typeface="Spoqa Han Sans Neo" panose="020B0500000000000000" pitchFamily="34" charset="-127"/>
                <a:ea typeface="Spoqa Han Sans Neo" panose="020B0500000000000000" pitchFamily="34" charset="-127"/>
              </a:rPr>
              <a:t>한 정보만 포함</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ImageNet dataset</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에서도 </a:t>
            </a:r>
            <a:r>
              <a:rPr lang="en-US" altLang="ko-KR" dirty="0">
                <a:latin typeface="Spoqa Han Sans Neo" panose="020B0500000000000000" pitchFamily="34" charset="-127"/>
                <a:ea typeface="Spoqa Han Sans Neo" panose="020B0500000000000000" pitchFamily="34" charset="-127"/>
              </a:rPr>
              <a:t>global</a:t>
            </a:r>
            <a:r>
              <a:rPr lang="ko-KR" altLang="en-US" dirty="0">
                <a:latin typeface="Spoqa Han Sans Neo" panose="020B0500000000000000" pitchFamily="34" charset="-127"/>
                <a:ea typeface="Spoqa Han Sans Neo" panose="020B0500000000000000" pitchFamily="34" charset="-127"/>
              </a:rPr>
              <a:t>한 정보만을 포함</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JFT-300 </a:t>
            </a:r>
            <a:r>
              <a:rPr lang="ko-KR" altLang="en-US" dirty="0">
                <a:latin typeface="Spoqa Han Sans Neo" panose="020B0500000000000000" pitchFamily="34" charset="-127"/>
                <a:ea typeface="Spoqa Han Sans Neo" panose="020B0500000000000000" pitchFamily="34" charset="-127"/>
              </a:rPr>
              <a:t>같은 </a:t>
            </a:r>
            <a:r>
              <a:rPr lang="en-US" altLang="ko-KR" dirty="0">
                <a:latin typeface="Spoqa Han Sans Neo" panose="020B0500000000000000" pitchFamily="34" charset="-127"/>
                <a:ea typeface="Spoqa Han Sans Neo" panose="020B0500000000000000" pitchFamily="34" charset="-127"/>
              </a:rPr>
              <a:t>large scale dataset</a:t>
            </a:r>
            <a:r>
              <a:rPr lang="ko-KR" altLang="en-US" dirty="0">
                <a:latin typeface="Spoqa Han Sans Neo" panose="020B0500000000000000" pitchFamily="34" charset="-127"/>
                <a:ea typeface="Spoqa Han Sans Neo" panose="020B0500000000000000" pitchFamily="34" charset="-127"/>
              </a:rPr>
              <a:t>을 사용해야 성능이 좋음</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local</a:t>
            </a:r>
            <a:r>
              <a:rPr lang="ko-KR" altLang="en-US" dirty="0">
                <a:latin typeface="Spoqa Han Sans Neo" panose="020B0500000000000000" pitchFamily="34" charset="-127"/>
                <a:ea typeface="Spoqa Han Sans Neo" panose="020B0500000000000000" pitchFamily="34" charset="-127"/>
              </a:rPr>
              <a:t>한 정보를 포함하는 </a:t>
            </a:r>
            <a:r>
              <a:rPr lang="en-US" altLang="ko-KR" dirty="0">
                <a:latin typeface="Spoqa Han Sans Neo" panose="020B0500000000000000" pitchFamily="34" charset="-127"/>
                <a:ea typeface="Spoqa Han Sans Neo" panose="020B0500000000000000" pitchFamily="34" charset="-127"/>
              </a:rPr>
              <a:t>head</a:t>
            </a:r>
            <a:r>
              <a:rPr lang="ko-KR" altLang="en-US" dirty="0">
                <a:latin typeface="Spoqa Han Sans Neo" panose="020B0500000000000000" pitchFamily="34" charset="-127"/>
                <a:ea typeface="Spoqa Han Sans Neo" panose="020B0500000000000000" pitchFamily="34" charset="-127"/>
              </a:rPr>
              <a:t>가 중요함</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locality</a:t>
            </a:r>
            <a:r>
              <a:rPr lang="ko-KR" altLang="en-US" dirty="0">
                <a:latin typeface="Spoqa Han Sans Neo" panose="020B0500000000000000" pitchFamily="34" charset="-127"/>
                <a:ea typeface="Spoqa Han Sans Neo" panose="020B0500000000000000" pitchFamily="34" charset="-127"/>
              </a:rPr>
              <a:t> 정보를 포함하기 위해 </a:t>
            </a:r>
            <a:r>
              <a:rPr lang="en-US" altLang="ko-KR" dirty="0" err="1">
                <a:latin typeface="Spoqa Han Sans Neo" panose="020B0500000000000000" pitchFamily="34" charset="-127"/>
                <a:ea typeface="Spoqa Han Sans Neo" panose="020B0500000000000000" pitchFamily="34" charset="-127"/>
              </a:rPr>
              <a:t>swin</a:t>
            </a:r>
            <a:r>
              <a:rPr lang="en-US" altLang="ko-KR" dirty="0">
                <a:latin typeface="Spoqa Han Sans Neo" panose="020B0500000000000000" pitchFamily="34" charset="-127"/>
                <a:ea typeface="Spoqa Han Sans Neo" panose="020B0500000000000000" pitchFamily="34" charset="-127"/>
              </a:rPr>
              <a:t> transformer</a:t>
            </a:r>
            <a:r>
              <a:rPr lang="ko-KR" altLang="en-US" dirty="0">
                <a:latin typeface="Spoqa Han Sans Neo" panose="020B0500000000000000" pitchFamily="34" charset="-127"/>
                <a:ea typeface="Spoqa Han Sans Neo" panose="020B0500000000000000" pitchFamily="34" charset="-127"/>
              </a:rPr>
              <a:t>와 같은 모델들이 연구</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Do Vision Transformers See Like Convolutional Neural Networks? </a:t>
            </a:r>
            <a:r>
              <a:rPr lang="en-US" altLang="ko-KR" sz="1000" b="1" i="0" dirty="0">
                <a:effectLst/>
                <a:latin typeface="Spoqa Han Sans Neo" panose="020B0500000000000000" pitchFamily="34" charset="-127"/>
                <a:ea typeface="Spoqa Han Sans Neo" panose="020B0500000000000000" pitchFamily="34" charset="-127"/>
              </a:rPr>
              <a:t>by Raghu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E139D1C8-1E9E-1C58-9939-2587B4DF7979}"/>
              </a:ext>
            </a:extLst>
          </p:cNvPr>
          <p:cNvPicPr>
            <a:picLocks noChangeAspect="1"/>
          </p:cNvPicPr>
          <p:nvPr/>
        </p:nvPicPr>
        <p:blipFill>
          <a:blip r:embed="rId3"/>
          <a:stretch>
            <a:fillRect/>
          </a:stretch>
        </p:blipFill>
        <p:spPr>
          <a:xfrm>
            <a:off x="6435892" y="791705"/>
            <a:ext cx="5696426" cy="2890429"/>
          </a:xfrm>
          <a:prstGeom prst="rect">
            <a:avLst/>
          </a:prstGeom>
        </p:spPr>
      </p:pic>
      <p:pic>
        <p:nvPicPr>
          <p:cNvPr id="11" name="그림 10">
            <a:extLst>
              <a:ext uri="{FF2B5EF4-FFF2-40B4-BE49-F238E27FC236}">
                <a16:creationId xmlns:a16="http://schemas.microsoft.com/office/drawing/2014/main" id="{C13BAE65-2A12-897F-F9FB-712B92B12963}"/>
              </a:ext>
            </a:extLst>
          </p:cNvPr>
          <p:cNvPicPr>
            <a:picLocks noChangeAspect="1"/>
          </p:cNvPicPr>
          <p:nvPr/>
        </p:nvPicPr>
        <p:blipFill>
          <a:blip r:embed="rId4"/>
          <a:stretch>
            <a:fillRect/>
          </a:stretch>
        </p:blipFill>
        <p:spPr>
          <a:xfrm>
            <a:off x="6409509" y="3890381"/>
            <a:ext cx="5722809" cy="2669136"/>
          </a:xfrm>
          <a:prstGeom prst="rect">
            <a:avLst/>
          </a:prstGeom>
        </p:spPr>
      </p:pic>
    </p:spTree>
    <p:extLst>
      <p:ext uri="{BB962C8B-B14F-4D97-AF65-F5344CB8AC3E}">
        <p14:creationId xmlns:p14="http://schemas.microsoft.com/office/powerpoint/2010/main" val="1796624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14</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8284640"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Similarity between lower and higher layers</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87921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skip connection</a:t>
            </a:r>
            <a:r>
              <a:rPr lang="ko-KR" altLang="en-US" dirty="0">
                <a:latin typeface="Spoqa Han Sans Neo" panose="020B0500000000000000" pitchFamily="34" charset="-127"/>
                <a:ea typeface="Spoqa Han Sans Neo" panose="020B0500000000000000" pitchFamily="34" charset="-127"/>
              </a:rPr>
              <a:t>을 제거하면 </a:t>
            </a:r>
            <a:r>
              <a:rPr lang="en-US" altLang="ko-KR" dirty="0">
                <a:latin typeface="Spoqa Han Sans Neo" panose="020B0500000000000000" pitchFamily="34" charset="-127"/>
                <a:ea typeface="Spoqa Han Sans Neo" panose="020B0500000000000000" pitchFamily="34" charset="-127"/>
              </a:rPr>
              <a:t>lower layer</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higher layer </a:t>
            </a:r>
            <a:r>
              <a:rPr lang="ko-KR" altLang="en-US" dirty="0">
                <a:latin typeface="Spoqa Han Sans Neo" panose="020B0500000000000000" pitchFamily="34" charset="-127"/>
                <a:ea typeface="Spoqa Han Sans Neo" panose="020B0500000000000000" pitchFamily="34" charset="-127"/>
              </a:rPr>
              <a:t>사이의 정보 전달이 안됨</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대략 </a:t>
            </a:r>
            <a:r>
              <a:rPr lang="en-US" altLang="ko-KR" dirty="0">
                <a:latin typeface="Spoqa Han Sans Neo" panose="020B0500000000000000" pitchFamily="34" charset="-127"/>
                <a:ea typeface="Spoqa Han Sans Neo" panose="020B0500000000000000" pitchFamily="34" charset="-127"/>
              </a:rPr>
              <a:t>4% </a:t>
            </a:r>
            <a:r>
              <a:rPr lang="ko-KR" altLang="en-US" dirty="0">
                <a:latin typeface="Spoqa Han Sans Neo" panose="020B0500000000000000" pitchFamily="34" charset="-127"/>
                <a:ea typeface="Spoqa Han Sans Neo" panose="020B0500000000000000" pitchFamily="34" charset="-127"/>
              </a:rPr>
              <a:t>정도 성능이 하락</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Are Convolutional Neural Networks or Transformers more like human vision? </a:t>
            </a:r>
            <a:r>
              <a:rPr lang="en-US" altLang="ko-KR" sz="1000" b="1" i="0" dirty="0">
                <a:effectLst/>
                <a:latin typeface="Spoqa Han Sans Neo" panose="020B0500000000000000" pitchFamily="34" charset="-127"/>
                <a:ea typeface="Spoqa Han Sans Neo" panose="020B0500000000000000" pitchFamily="34" charset="-127"/>
              </a:rPr>
              <a:t>by Tuli et al. 2021</a:t>
            </a:r>
            <a:endParaRPr lang="en-US" altLang="ko-KR" sz="1000" b="1" dirty="0">
              <a:latin typeface="Spoqa Han Sans Neo" panose="020B0500000000000000" pitchFamily="34" charset="-127"/>
              <a:ea typeface="Spoqa Han Sans Neo" panose="020B0500000000000000" pitchFamily="34" charset="-127"/>
            </a:endParaRPr>
          </a:p>
        </p:txBody>
      </p:sp>
      <p:pic>
        <p:nvPicPr>
          <p:cNvPr id="4" name="그림 3">
            <a:extLst>
              <a:ext uri="{FF2B5EF4-FFF2-40B4-BE49-F238E27FC236}">
                <a16:creationId xmlns:a16="http://schemas.microsoft.com/office/drawing/2014/main" id="{52EE1995-1008-9D1E-DEF8-35544E84D507}"/>
              </a:ext>
            </a:extLst>
          </p:cNvPr>
          <p:cNvPicPr>
            <a:picLocks noChangeAspect="1"/>
          </p:cNvPicPr>
          <p:nvPr/>
        </p:nvPicPr>
        <p:blipFill>
          <a:blip r:embed="rId3"/>
          <a:stretch>
            <a:fillRect/>
          </a:stretch>
        </p:blipFill>
        <p:spPr>
          <a:xfrm>
            <a:off x="426995" y="1818098"/>
            <a:ext cx="10924674" cy="4724305"/>
          </a:xfrm>
          <a:prstGeom prst="rect">
            <a:avLst/>
          </a:prstGeom>
        </p:spPr>
      </p:pic>
    </p:spTree>
    <p:extLst>
      <p:ext uri="{BB962C8B-B14F-4D97-AF65-F5344CB8AC3E}">
        <p14:creationId xmlns:p14="http://schemas.microsoft.com/office/powerpoint/2010/main" val="4049744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15</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1069540" y="3105834"/>
            <a:ext cx="10052919" cy="646331"/>
          </a:xfrm>
          <a:prstGeom prst="rect">
            <a:avLst/>
          </a:prstGeom>
          <a:noFill/>
        </p:spPr>
        <p:txBody>
          <a:bodyPr wrap="square" rtlCol="0">
            <a:spAutoFit/>
          </a:bodyPr>
          <a:lstStyle/>
          <a:p>
            <a:r>
              <a:rPr lang="en-US" altLang="ko-KR" sz="3600" dirty="0">
                <a:solidFill>
                  <a:srgbClr val="151F6A"/>
                </a:solidFill>
                <a:latin typeface="Spoqa Han Sans Neo Bold" panose="020B0800000000000000" pitchFamily="34" charset="-127"/>
                <a:ea typeface="Spoqa Han Sans Neo Bold" panose="020B0800000000000000" pitchFamily="34" charset="-127"/>
              </a:rPr>
              <a:t>Intriguing Properties of Vision Transformers</a:t>
            </a:r>
            <a:endParaRPr lang="ko-KR" altLang="en-US" sz="3600" dirty="0">
              <a:solidFill>
                <a:srgbClr val="151F6A"/>
              </a:solidFill>
              <a:latin typeface="Spoqa Han Sans Neo Bold" panose="020B0800000000000000" pitchFamily="34" charset="-127"/>
              <a:ea typeface="Spoqa Han Sans Neo Bold" panose="020B0800000000000000" pitchFamily="34" charset="-127"/>
            </a:endParaRPr>
          </a:p>
        </p:txBody>
      </p:sp>
    </p:spTree>
    <p:extLst>
      <p:ext uri="{BB962C8B-B14F-4D97-AF65-F5344CB8AC3E}">
        <p14:creationId xmlns:p14="http://schemas.microsoft.com/office/powerpoint/2010/main" val="2148433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16</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243469"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Robustness of the </a:t>
            </a:r>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58321" y="877203"/>
            <a:ext cx="11009773" cy="12973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occluded image</a:t>
            </a:r>
            <a:r>
              <a:rPr lang="ko-KR" altLang="en-US" dirty="0">
                <a:latin typeface="Spoqa Han Sans Neo" panose="020B0500000000000000" pitchFamily="34" charset="-127"/>
                <a:ea typeface="Spoqa Han Sans Neo" panose="020B0500000000000000" pitchFamily="34" charset="-127"/>
              </a:rPr>
              <a:t>에 대해서 모델의 </a:t>
            </a:r>
            <a:r>
              <a:rPr lang="en-US" altLang="ko-KR" dirty="0">
                <a:latin typeface="Spoqa Han Sans Neo" panose="020B0500000000000000" pitchFamily="34" charset="-127"/>
                <a:ea typeface="Spoqa Han Sans Neo" panose="020B0500000000000000" pitchFamily="34" charset="-127"/>
              </a:rPr>
              <a:t>robustness</a:t>
            </a:r>
            <a:r>
              <a:rPr lang="ko-KR" altLang="en-US" dirty="0">
                <a:latin typeface="Spoqa Han Sans Neo" panose="020B0500000000000000" pitchFamily="34" charset="-127"/>
                <a:ea typeface="Spoqa Han Sans Neo" panose="020B0500000000000000" pitchFamily="34" charset="-127"/>
              </a:rPr>
              <a:t>를 측정</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a:t>
            </a:r>
            <a:r>
              <a:rPr lang="en-US" altLang="ko-KR"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DeiT</a:t>
            </a:r>
            <a:r>
              <a:rPr lang="en-US" altLang="ko-KR" dirty="0">
                <a:latin typeface="Spoqa Han Sans Neo" panose="020B0500000000000000" pitchFamily="34" charset="-127"/>
                <a:ea typeface="Spoqa Han Sans Neo" panose="020B0500000000000000" pitchFamily="34" charset="-127"/>
              </a:rPr>
              <a:t>, T2T, ResNet50</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Original Image, Random </a:t>
            </a:r>
            <a:r>
              <a:rPr lang="en-US" altLang="ko-KR" dirty="0" err="1">
                <a:latin typeface="Spoqa Han Sans Neo" panose="020B0500000000000000" pitchFamily="34" charset="-127"/>
                <a:ea typeface="Spoqa Han Sans Neo" panose="020B0500000000000000" pitchFamily="34" charset="-127"/>
              </a:rPr>
              <a:t>PatchDrop</a:t>
            </a:r>
            <a:r>
              <a:rPr lang="en-US" altLang="ko-KR" dirty="0">
                <a:latin typeface="Spoqa Han Sans Neo" panose="020B0500000000000000" pitchFamily="34" charset="-127"/>
                <a:ea typeface="Spoqa Han Sans Neo" panose="020B0500000000000000" pitchFamily="34" charset="-127"/>
              </a:rPr>
              <a:t>, Salient </a:t>
            </a:r>
            <a:r>
              <a:rPr lang="en-US" altLang="ko-KR" dirty="0" err="1">
                <a:latin typeface="Spoqa Han Sans Neo" panose="020B0500000000000000" pitchFamily="34" charset="-127"/>
                <a:ea typeface="Spoqa Han Sans Neo" panose="020B0500000000000000" pitchFamily="34" charset="-127"/>
              </a:rPr>
              <a:t>PatchDrop</a:t>
            </a:r>
            <a:r>
              <a:rPr lang="en-US" altLang="ko-KR" dirty="0">
                <a:latin typeface="Spoqa Han Sans Neo" panose="020B0500000000000000" pitchFamily="34" charset="-127"/>
                <a:ea typeface="Spoqa Han Sans Neo" panose="020B0500000000000000" pitchFamily="34" charset="-127"/>
              </a:rPr>
              <a:t>, Non-Salient </a:t>
            </a:r>
            <a:r>
              <a:rPr lang="en-US" altLang="ko-KR" dirty="0" err="1">
                <a:latin typeface="Spoqa Han Sans Neo" panose="020B0500000000000000" pitchFamily="34" charset="-127"/>
                <a:ea typeface="Spoqa Han Sans Neo" panose="020B0500000000000000" pitchFamily="34" charset="-127"/>
              </a:rPr>
              <a:t>PatchDrop</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Intriguing Properties of Vision Transformers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dirty="0">
                <a:latin typeface="Spoqa Han Sans Neo" panose="020B0500000000000000" pitchFamily="34" charset="-127"/>
                <a:ea typeface="Spoqa Han Sans Neo" panose="020B0500000000000000" pitchFamily="34" charset="-127"/>
              </a:rPr>
              <a:t>Naseer</a:t>
            </a:r>
            <a:r>
              <a:rPr lang="en-US" altLang="ko-KR" sz="1000" b="1" i="0" dirty="0">
                <a:effectLst/>
                <a:latin typeface="Spoqa Han Sans Neo" panose="020B0500000000000000" pitchFamily="34" charset="-127"/>
                <a:ea typeface="Spoqa Han Sans Neo" panose="020B0500000000000000" pitchFamily="34" charset="-127"/>
              </a:rPr>
              <a:t>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340D9059-DC9A-502D-BFB0-2AAB9275AF38}"/>
              </a:ext>
            </a:extLst>
          </p:cNvPr>
          <p:cNvPicPr>
            <a:picLocks noChangeAspect="1"/>
          </p:cNvPicPr>
          <p:nvPr/>
        </p:nvPicPr>
        <p:blipFill>
          <a:blip r:embed="rId3"/>
          <a:stretch>
            <a:fillRect/>
          </a:stretch>
        </p:blipFill>
        <p:spPr>
          <a:xfrm>
            <a:off x="0" y="3588471"/>
            <a:ext cx="12192000" cy="2075342"/>
          </a:xfrm>
          <a:prstGeom prst="rect">
            <a:avLst/>
          </a:prstGeom>
        </p:spPr>
      </p:pic>
    </p:spTree>
    <p:extLst>
      <p:ext uri="{BB962C8B-B14F-4D97-AF65-F5344CB8AC3E}">
        <p14:creationId xmlns:p14="http://schemas.microsoft.com/office/powerpoint/2010/main" val="3893636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17</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243469"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Robustness of the </a:t>
            </a:r>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6994252" y="258984"/>
            <a:ext cx="4326890" cy="466346"/>
          </a:xfrm>
          <a:prstGeom prst="rect">
            <a:avLst/>
          </a:prstGeom>
          <a:noFill/>
        </p:spPr>
        <p:txBody>
          <a:bodyPr wrap="square">
            <a:spAutoFit/>
          </a:bodyPr>
          <a:lstStyle/>
          <a:p>
            <a:pPr>
              <a:lnSpc>
                <a:spcPct val="150000"/>
              </a:lnSpc>
            </a:pPr>
            <a:r>
              <a:rPr lang="ko-KR" altLang="en-US" dirty="0" err="1">
                <a:latin typeface="Spoqa Han Sans Neo" panose="020B0500000000000000" pitchFamily="34" charset="-127"/>
                <a:ea typeface="Spoqa Han Sans Neo" panose="020B0500000000000000" pitchFamily="34" charset="-127"/>
              </a:rPr>
              <a:t>모델별</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occluded image</a:t>
            </a:r>
            <a:r>
              <a:rPr lang="ko-KR" altLang="en-US" dirty="0">
                <a:latin typeface="Spoqa Han Sans Neo" panose="020B0500000000000000" pitchFamily="34" charset="-127"/>
                <a:ea typeface="Spoqa Han Sans Neo" panose="020B0500000000000000" pitchFamily="34" charset="-127"/>
              </a:rPr>
              <a:t>에 따른 정확도</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Intriguing Properties of Vision Transformers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dirty="0">
                <a:latin typeface="Spoqa Han Sans Neo" panose="020B0500000000000000" pitchFamily="34" charset="-127"/>
                <a:ea typeface="Spoqa Han Sans Neo" panose="020B0500000000000000" pitchFamily="34" charset="-127"/>
              </a:rPr>
              <a:t>Naseer</a:t>
            </a:r>
            <a:r>
              <a:rPr lang="en-US" altLang="ko-KR" sz="1000" b="1" i="0" dirty="0">
                <a:effectLst/>
                <a:latin typeface="Spoqa Han Sans Neo" panose="020B0500000000000000" pitchFamily="34" charset="-127"/>
                <a:ea typeface="Spoqa Han Sans Neo" panose="020B0500000000000000" pitchFamily="34" charset="-127"/>
              </a:rPr>
              <a:t>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0174B8F3-8B21-10AD-01BF-FA6DBE32361E}"/>
              </a:ext>
            </a:extLst>
          </p:cNvPr>
          <p:cNvPicPr>
            <a:picLocks noChangeAspect="1"/>
          </p:cNvPicPr>
          <p:nvPr/>
        </p:nvPicPr>
        <p:blipFill>
          <a:blip r:embed="rId3"/>
          <a:stretch>
            <a:fillRect/>
          </a:stretch>
        </p:blipFill>
        <p:spPr>
          <a:xfrm>
            <a:off x="1303000" y="772300"/>
            <a:ext cx="9585999" cy="5784814"/>
          </a:xfrm>
          <a:prstGeom prst="rect">
            <a:avLst/>
          </a:prstGeom>
        </p:spPr>
      </p:pic>
    </p:spTree>
    <p:extLst>
      <p:ext uri="{BB962C8B-B14F-4D97-AF65-F5344CB8AC3E}">
        <p14:creationId xmlns:p14="http://schemas.microsoft.com/office/powerpoint/2010/main" val="2369802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18</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243469"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Robustness of the </a:t>
            </a:r>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46371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Grid </a:t>
            </a:r>
            <a:r>
              <a:rPr lang="ko-KR" altLang="en-US" dirty="0">
                <a:latin typeface="Spoqa Han Sans Neo" panose="020B0500000000000000" pitchFamily="34" charset="-127"/>
                <a:ea typeface="Spoqa Han Sans Neo" panose="020B0500000000000000" pitchFamily="34" charset="-127"/>
              </a:rPr>
              <a:t>단위로 </a:t>
            </a:r>
            <a:r>
              <a:rPr lang="en-US" altLang="ko-KR" dirty="0">
                <a:latin typeface="Spoqa Han Sans Neo" panose="020B0500000000000000" pitchFamily="34" charset="-127"/>
                <a:ea typeface="Spoqa Han Sans Neo" panose="020B0500000000000000" pitchFamily="34" charset="-127"/>
              </a:rPr>
              <a:t>shuffle</a:t>
            </a:r>
            <a:r>
              <a:rPr lang="ko-KR" altLang="en-US" dirty="0">
                <a:latin typeface="Spoqa Han Sans Neo" panose="020B0500000000000000" pitchFamily="34" charset="-127"/>
                <a:ea typeface="Spoqa Han Sans Neo" panose="020B0500000000000000" pitchFamily="34" charset="-127"/>
              </a:rPr>
              <a:t>된 </a:t>
            </a:r>
            <a:r>
              <a:rPr lang="en-US" altLang="ko-KR" dirty="0">
                <a:latin typeface="Spoqa Han Sans Neo" panose="020B0500000000000000" pitchFamily="34" charset="-127"/>
                <a:ea typeface="Spoqa Han Sans Neo" panose="020B0500000000000000" pitchFamily="34" charset="-127"/>
              </a:rPr>
              <a:t>image</a:t>
            </a:r>
            <a:r>
              <a:rPr lang="ko-KR" altLang="en-US" dirty="0">
                <a:latin typeface="Spoqa Han Sans Neo" panose="020B0500000000000000" pitchFamily="34" charset="-127"/>
                <a:ea typeface="Spoqa Han Sans Neo" panose="020B0500000000000000" pitchFamily="34" charset="-127"/>
              </a:rPr>
              <a:t>에</a:t>
            </a:r>
            <a:r>
              <a:rPr lang="en-US" altLang="ko-KR" dirty="0">
                <a:latin typeface="Spoqa Han Sans Neo" panose="020B0500000000000000" pitchFamily="34" charset="-127"/>
                <a:ea typeface="Spoqa Han Sans Neo" panose="020B0500000000000000" pitchFamily="34" charset="-127"/>
              </a:rPr>
              <a:t> </a:t>
            </a:r>
            <a:r>
              <a:rPr lang="ko-KR" altLang="en-US" dirty="0">
                <a:latin typeface="Spoqa Han Sans Neo" panose="020B0500000000000000" pitchFamily="34" charset="-127"/>
                <a:ea typeface="Spoqa Han Sans Neo" panose="020B0500000000000000" pitchFamily="34" charset="-127"/>
              </a:rPr>
              <a:t>대한 모델의 </a:t>
            </a:r>
            <a:r>
              <a:rPr lang="en-US" altLang="ko-KR" dirty="0">
                <a:latin typeface="Spoqa Han Sans Neo" panose="020B0500000000000000" pitchFamily="34" charset="-127"/>
                <a:ea typeface="Spoqa Han Sans Neo" panose="020B0500000000000000" pitchFamily="34" charset="-127"/>
              </a:rPr>
              <a:t>robustness </a:t>
            </a:r>
            <a:r>
              <a:rPr lang="ko-KR" altLang="en-US" dirty="0">
                <a:latin typeface="Spoqa Han Sans Neo" panose="020B0500000000000000" pitchFamily="34" charset="-127"/>
                <a:ea typeface="Spoqa Han Sans Neo" panose="020B0500000000000000" pitchFamily="34" charset="-127"/>
              </a:rPr>
              <a:t>측정</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Intriguing Properties of Vision Transformers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dirty="0">
                <a:latin typeface="Spoqa Han Sans Neo" panose="020B0500000000000000" pitchFamily="34" charset="-127"/>
                <a:ea typeface="Spoqa Han Sans Neo" panose="020B0500000000000000" pitchFamily="34" charset="-127"/>
              </a:rPr>
              <a:t>Naseer</a:t>
            </a:r>
            <a:r>
              <a:rPr lang="en-US" altLang="ko-KR" sz="1000" b="1" i="0" dirty="0">
                <a:effectLst/>
                <a:latin typeface="Spoqa Han Sans Neo" panose="020B0500000000000000" pitchFamily="34" charset="-127"/>
                <a:ea typeface="Spoqa Han Sans Neo" panose="020B0500000000000000" pitchFamily="34" charset="-127"/>
              </a:rPr>
              <a:t>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4" name="그림 3">
            <a:extLst>
              <a:ext uri="{FF2B5EF4-FFF2-40B4-BE49-F238E27FC236}">
                <a16:creationId xmlns:a16="http://schemas.microsoft.com/office/drawing/2014/main" id="{5D738A2C-FC5C-4255-B52A-64B73C609559}"/>
              </a:ext>
            </a:extLst>
          </p:cNvPr>
          <p:cNvPicPr>
            <a:picLocks noChangeAspect="1"/>
          </p:cNvPicPr>
          <p:nvPr/>
        </p:nvPicPr>
        <p:blipFill>
          <a:blip r:embed="rId3"/>
          <a:stretch>
            <a:fillRect/>
          </a:stretch>
        </p:blipFill>
        <p:spPr>
          <a:xfrm>
            <a:off x="2101516" y="2375613"/>
            <a:ext cx="7988968" cy="4092524"/>
          </a:xfrm>
          <a:prstGeom prst="rect">
            <a:avLst/>
          </a:prstGeom>
        </p:spPr>
      </p:pic>
      <p:pic>
        <p:nvPicPr>
          <p:cNvPr id="10" name="그림 9">
            <a:extLst>
              <a:ext uri="{FF2B5EF4-FFF2-40B4-BE49-F238E27FC236}">
                <a16:creationId xmlns:a16="http://schemas.microsoft.com/office/drawing/2014/main" id="{2461C32C-12F9-9B53-A807-D5A7CB88A758}"/>
              </a:ext>
            </a:extLst>
          </p:cNvPr>
          <p:cNvPicPr>
            <a:picLocks noChangeAspect="1"/>
          </p:cNvPicPr>
          <p:nvPr/>
        </p:nvPicPr>
        <p:blipFill>
          <a:blip r:embed="rId4"/>
          <a:stretch>
            <a:fillRect/>
          </a:stretch>
        </p:blipFill>
        <p:spPr>
          <a:xfrm>
            <a:off x="7062537" y="500499"/>
            <a:ext cx="4828673" cy="1540408"/>
          </a:xfrm>
          <a:prstGeom prst="rect">
            <a:avLst/>
          </a:prstGeom>
        </p:spPr>
      </p:pic>
    </p:spTree>
    <p:extLst>
      <p:ext uri="{BB962C8B-B14F-4D97-AF65-F5344CB8AC3E}">
        <p14:creationId xmlns:p14="http://schemas.microsoft.com/office/powerpoint/2010/main" val="401698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19</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243469"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Robustness of the </a:t>
            </a:r>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87921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Patch size </a:t>
            </a:r>
            <a:r>
              <a:rPr lang="ko-KR" altLang="en-US" dirty="0">
                <a:latin typeface="Spoqa Han Sans Neo" panose="020B0500000000000000" pitchFamily="34" charset="-127"/>
                <a:ea typeface="Spoqa Han Sans Neo" panose="020B0500000000000000" pitchFamily="34" charset="-127"/>
              </a:rPr>
              <a:t>별로 모델 학습</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Patch size</a:t>
            </a:r>
            <a:r>
              <a:rPr lang="ko-KR" altLang="en-US" dirty="0">
                <a:latin typeface="Spoqa Han Sans Neo" panose="020B0500000000000000" pitchFamily="34" charset="-127"/>
                <a:ea typeface="Spoqa Han Sans Neo" panose="020B0500000000000000" pitchFamily="34" charset="-127"/>
              </a:rPr>
              <a:t>가 </a:t>
            </a:r>
            <a:r>
              <a:rPr lang="en-US" altLang="ko-KR" dirty="0">
                <a:latin typeface="Spoqa Han Sans Neo" panose="020B0500000000000000" pitchFamily="34" charset="-127"/>
                <a:ea typeface="Spoqa Han Sans Neo" panose="020B0500000000000000" pitchFamily="34" charset="-127"/>
              </a:rPr>
              <a:t>196 (14 x 14)</a:t>
            </a:r>
            <a:r>
              <a:rPr lang="ko-KR" altLang="en-US" dirty="0">
                <a:latin typeface="Spoqa Han Sans Neo" panose="020B0500000000000000" pitchFamily="34" charset="-127"/>
                <a:ea typeface="Spoqa Han Sans Neo" panose="020B0500000000000000" pitchFamily="34" charset="-127"/>
              </a:rPr>
              <a:t> 일 때 가장 </a:t>
            </a:r>
            <a:r>
              <a:rPr lang="en-US" altLang="ko-KR" dirty="0">
                <a:latin typeface="Spoqa Han Sans Neo" panose="020B0500000000000000" pitchFamily="34" charset="-127"/>
                <a:ea typeface="Spoqa Han Sans Neo" panose="020B0500000000000000" pitchFamily="34" charset="-127"/>
              </a:rPr>
              <a:t>robust</a:t>
            </a:r>
            <a:r>
              <a:rPr lang="ko-KR" altLang="en-US" dirty="0">
                <a:latin typeface="Spoqa Han Sans Neo" panose="020B0500000000000000" pitchFamily="34" charset="-127"/>
                <a:ea typeface="Spoqa Han Sans Neo" panose="020B0500000000000000" pitchFamily="34" charset="-127"/>
              </a:rPr>
              <a:t>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Intriguing Properties of Vision Transformers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dirty="0">
                <a:latin typeface="Spoqa Han Sans Neo" panose="020B0500000000000000" pitchFamily="34" charset="-127"/>
                <a:ea typeface="Spoqa Han Sans Neo" panose="020B0500000000000000" pitchFamily="34" charset="-127"/>
              </a:rPr>
              <a:t>Naseer</a:t>
            </a:r>
            <a:r>
              <a:rPr lang="en-US" altLang="ko-KR" sz="1000" b="1" i="0" dirty="0">
                <a:effectLst/>
                <a:latin typeface="Spoqa Han Sans Neo" panose="020B0500000000000000" pitchFamily="34" charset="-127"/>
                <a:ea typeface="Spoqa Han Sans Neo" panose="020B0500000000000000" pitchFamily="34" charset="-127"/>
              </a:rPr>
              <a:t> et al. </a:t>
            </a:r>
            <a:r>
              <a:rPr lang="en-US" altLang="ko-KR" sz="1000" b="1" dirty="0">
                <a:latin typeface="Spoqa Han Sans Neo" panose="020B0500000000000000" pitchFamily="34" charset="-127"/>
                <a:ea typeface="Spoqa Han Sans Neo" panose="020B0500000000000000" pitchFamily="34" charset="-127"/>
              </a:rPr>
              <a:t>2021</a:t>
            </a:r>
          </a:p>
        </p:txBody>
      </p:sp>
      <p:pic>
        <p:nvPicPr>
          <p:cNvPr id="9" name="그림 8">
            <a:extLst>
              <a:ext uri="{FF2B5EF4-FFF2-40B4-BE49-F238E27FC236}">
                <a16:creationId xmlns:a16="http://schemas.microsoft.com/office/drawing/2014/main" id="{EC2A1F3E-0E7E-9FBF-EE81-540F35BDF005}"/>
              </a:ext>
            </a:extLst>
          </p:cNvPr>
          <p:cNvPicPr>
            <a:picLocks noChangeAspect="1"/>
          </p:cNvPicPr>
          <p:nvPr/>
        </p:nvPicPr>
        <p:blipFill>
          <a:blip r:embed="rId3"/>
          <a:stretch>
            <a:fillRect/>
          </a:stretch>
        </p:blipFill>
        <p:spPr>
          <a:xfrm>
            <a:off x="7171722" y="1106905"/>
            <a:ext cx="4404023" cy="4922837"/>
          </a:xfrm>
          <a:prstGeom prst="rect">
            <a:avLst/>
          </a:prstGeom>
        </p:spPr>
      </p:pic>
    </p:spTree>
    <p:extLst>
      <p:ext uri="{BB962C8B-B14F-4D97-AF65-F5344CB8AC3E}">
        <p14:creationId xmlns:p14="http://schemas.microsoft.com/office/powerpoint/2010/main" val="680297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20</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4243469"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Robustness of the </a:t>
            </a:r>
            <a:r>
              <a:rPr lang="en-US" altLang="ko-KR" sz="3000" dirty="0" err="1">
                <a:solidFill>
                  <a:srgbClr val="151F6A"/>
                </a:solidFill>
                <a:latin typeface="Spoqa Han Sans Neo Bold" panose="020B0800000000000000" pitchFamily="34" charset="-127"/>
                <a:ea typeface="Spoqa Han Sans Neo Bold" panose="020B0800000000000000" pitchFamily="34" charset="-127"/>
              </a:rPr>
              <a:t>ViT</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1297343"/>
          </a:xfrm>
          <a:prstGeom prst="rect">
            <a:avLst/>
          </a:prstGeom>
          <a:noFill/>
        </p:spPr>
        <p:txBody>
          <a:bodyPr wrap="square">
            <a:spAutoFit/>
          </a:bodyPr>
          <a:lstStyle/>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4" name="그림 3">
            <a:extLst>
              <a:ext uri="{FF2B5EF4-FFF2-40B4-BE49-F238E27FC236}">
                <a16:creationId xmlns:a16="http://schemas.microsoft.com/office/drawing/2014/main" id="{40B0D5FB-2E50-FB0A-BE3A-3CC4FFC75949}"/>
              </a:ext>
            </a:extLst>
          </p:cNvPr>
          <p:cNvPicPr>
            <a:picLocks noChangeAspect="1"/>
          </p:cNvPicPr>
          <p:nvPr/>
        </p:nvPicPr>
        <p:blipFill>
          <a:blip r:embed="rId3"/>
          <a:stretch>
            <a:fillRect/>
          </a:stretch>
        </p:blipFill>
        <p:spPr>
          <a:xfrm>
            <a:off x="922665" y="772888"/>
            <a:ext cx="10346670" cy="5804459"/>
          </a:xfrm>
          <a:prstGeom prst="rect">
            <a:avLst/>
          </a:prstGeom>
        </p:spPr>
      </p:pic>
    </p:spTree>
    <p:extLst>
      <p:ext uri="{BB962C8B-B14F-4D97-AF65-F5344CB8AC3E}">
        <p14:creationId xmlns:p14="http://schemas.microsoft.com/office/powerpoint/2010/main" val="4155029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21</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106667" y="3105834"/>
            <a:ext cx="7978666" cy="646331"/>
          </a:xfrm>
          <a:prstGeom prst="rect">
            <a:avLst/>
          </a:prstGeom>
          <a:noFill/>
        </p:spPr>
        <p:txBody>
          <a:bodyPr wrap="square" rtlCol="0">
            <a:spAutoFit/>
          </a:bodyPr>
          <a:lstStyle/>
          <a:p>
            <a:r>
              <a:rPr lang="en-US" altLang="ko-KR" sz="36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600" dirty="0">
              <a:solidFill>
                <a:srgbClr val="151F6A"/>
              </a:solidFill>
              <a:latin typeface="Spoqa Han Sans Neo Bold" panose="020B0800000000000000" pitchFamily="34" charset="-127"/>
              <a:ea typeface="Spoqa Han Sans Neo Bold" panose="020B0800000000000000" pitchFamily="34" charset="-127"/>
            </a:endParaRPr>
          </a:p>
        </p:txBody>
      </p:sp>
    </p:spTree>
    <p:extLst>
      <p:ext uri="{BB962C8B-B14F-4D97-AF65-F5344CB8AC3E}">
        <p14:creationId xmlns:p14="http://schemas.microsoft.com/office/powerpoint/2010/main" val="541582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22</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798656"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87921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Loss</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function</a:t>
            </a:r>
            <a:r>
              <a:rPr lang="ko-KR" altLang="en-US" dirty="0">
                <a:latin typeface="Spoqa Han Sans Neo" panose="020B0500000000000000" pitchFamily="34" charset="-127"/>
                <a:ea typeface="Spoqa Han Sans Neo" panose="020B0500000000000000" pitchFamily="34" charset="-127"/>
              </a:rPr>
              <a:t>이 </a:t>
            </a:r>
            <a:r>
              <a:rPr lang="en-US" altLang="ko-KR" dirty="0">
                <a:latin typeface="Spoqa Han Sans Neo" panose="020B0500000000000000" pitchFamily="34" charset="-127"/>
                <a:ea typeface="Spoqa Han Sans Neo" panose="020B0500000000000000" pitchFamily="34" charset="-127"/>
              </a:rPr>
              <a:t>flat</a:t>
            </a:r>
            <a:r>
              <a:rPr lang="ko-KR" altLang="en-US" dirty="0">
                <a:latin typeface="Spoqa Han Sans Neo" panose="020B0500000000000000" pitchFamily="34" charset="-127"/>
                <a:ea typeface="Spoqa Han Sans Neo" panose="020B0500000000000000" pitchFamily="34" charset="-127"/>
              </a:rPr>
              <a:t>할수록 더 좋은 </a:t>
            </a:r>
            <a:r>
              <a:rPr lang="en-US" altLang="ko-KR" dirty="0">
                <a:latin typeface="Spoqa Han Sans Neo" panose="020B0500000000000000" pitchFamily="34" charset="-127"/>
                <a:ea typeface="Spoqa Han Sans Neo" panose="020B0500000000000000" pitchFamily="34" charset="-127"/>
              </a:rPr>
              <a:t>performance</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generalization</a:t>
            </a:r>
            <a:r>
              <a:rPr lang="ko-KR" altLang="en-US" dirty="0">
                <a:latin typeface="Spoqa Han Sans Neo" panose="020B0500000000000000" pitchFamily="34" charset="-127"/>
                <a:ea typeface="Spoqa Han Sans Neo" panose="020B0500000000000000" pitchFamily="34" charset="-127"/>
              </a:rPr>
              <a:t>을 가짐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accuracy</a:t>
            </a:r>
            <a:r>
              <a:rPr lang="ko-KR" altLang="en-US" dirty="0">
                <a:latin typeface="Spoqa Han Sans Neo" panose="020B0500000000000000" pitchFamily="34" charset="-127"/>
                <a:ea typeface="Spoqa Han Sans Neo" panose="020B0500000000000000" pitchFamily="34" charset="-127"/>
              </a:rPr>
              <a:t>와 </a:t>
            </a:r>
            <a:r>
              <a:rPr lang="en-US" altLang="ko-KR" dirty="0">
                <a:latin typeface="Spoqa Han Sans Neo" panose="020B0500000000000000" pitchFamily="34" charset="-127"/>
                <a:ea typeface="Spoqa Han Sans Neo" panose="020B0500000000000000" pitchFamily="34" charset="-127"/>
              </a:rPr>
              <a:t>robustness</a:t>
            </a:r>
            <a:r>
              <a:rPr lang="ko-KR" altLang="en-US" dirty="0">
                <a:latin typeface="Spoqa Han Sans Neo" panose="020B0500000000000000" pitchFamily="34" charset="-127"/>
                <a:ea typeface="Spoqa Han Sans Neo" panose="020B0500000000000000" pitchFamily="34" charset="-127"/>
              </a:rPr>
              <a:t>가 향상됨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On Large-Batch Training for Deep Learning: Generalization Gap and Sharp Minima </a:t>
            </a:r>
            <a:r>
              <a:rPr lang="en-US" altLang="ko-KR" sz="1000" b="1" i="0" dirty="0">
                <a:effectLst/>
                <a:latin typeface="Spoqa Han Sans Neo" panose="020B0500000000000000" pitchFamily="34" charset="-127"/>
                <a:ea typeface="Spoqa Han Sans Neo" panose="020B0500000000000000" pitchFamily="34" charset="-127"/>
              </a:rPr>
              <a:t>by </a:t>
            </a:r>
            <a:r>
              <a:rPr lang="en-US" altLang="ko-KR" sz="1000" b="1" i="0" dirty="0" err="1">
                <a:effectLst/>
                <a:latin typeface="Spoqa Han Sans Neo" panose="020B0500000000000000" pitchFamily="34" charset="-127"/>
                <a:ea typeface="Spoqa Han Sans Neo" panose="020B0500000000000000" pitchFamily="34" charset="-127"/>
              </a:rPr>
              <a:t>Keskar</a:t>
            </a:r>
            <a:r>
              <a:rPr lang="en-US" altLang="ko-KR" sz="1000" b="1" i="0" dirty="0">
                <a:effectLst/>
                <a:latin typeface="Spoqa Han Sans Neo" panose="020B0500000000000000" pitchFamily="34" charset="-127"/>
                <a:ea typeface="Spoqa Han Sans Neo" panose="020B0500000000000000" pitchFamily="34" charset="-127"/>
              </a:rPr>
              <a:t> et al. </a:t>
            </a:r>
            <a:r>
              <a:rPr lang="en-US" altLang="ko-KR" sz="1000" b="1" dirty="0">
                <a:latin typeface="Spoqa Han Sans Neo" panose="020B0500000000000000" pitchFamily="34" charset="-127"/>
                <a:ea typeface="Spoqa Han Sans Neo" panose="020B0500000000000000" pitchFamily="34" charset="-127"/>
              </a:rPr>
              <a:t>2016</a:t>
            </a:r>
          </a:p>
        </p:txBody>
      </p:sp>
      <p:pic>
        <p:nvPicPr>
          <p:cNvPr id="7" name="그림 6">
            <a:extLst>
              <a:ext uri="{FF2B5EF4-FFF2-40B4-BE49-F238E27FC236}">
                <a16:creationId xmlns:a16="http://schemas.microsoft.com/office/drawing/2014/main" id="{A89C3F96-DE22-A7B9-BD41-D2F397F78BB0}"/>
              </a:ext>
            </a:extLst>
          </p:cNvPr>
          <p:cNvPicPr>
            <a:picLocks noChangeAspect="1"/>
          </p:cNvPicPr>
          <p:nvPr/>
        </p:nvPicPr>
        <p:blipFill>
          <a:blip r:embed="rId3"/>
          <a:stretch>
            <a:fillRect/>
          </a:stretch>
        </p:blipFill>
        <p:spPr>
          <a:xfrm>
            <a:off x="1266418" y="1977684"/>
            <a:ext cx="9659164" cy="4255073"/>
          </a:xfrm>
          <a:prstGeom prst="rect">
            <a:avLst/>
          </a:prstGeom>
        </p:spPr>
      </p:pic>
    </p:spTree>
    <p:extLst>
      <p:ext uri="{BB962C8B-B14F-4D97-AF65-F5344CB8AC3E}">
        <p14:creationId xmlns:p14="http://schemas.microsoft.com/office/powerpoint/2010/main" val="1448133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23</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46634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skip connection </a:t>
            </a:r>
            <a:r>
              <a:rPr lang="ko-KR" altLang="en-US" dirty="0">
                <a:latin typeface="Spoqa Han Sans Neo" panose="020B0500000000000000" pitchFamily="34" charset="-127"/>
                <a:ea typeface="Spoqa Han Sans Neo" panose="020B0500000000000000" pitchFamily="34" charset="-127"/>
              </a:rPr>
              <a:t>유무에 따른 </a:t>
            </a:r>
            <a:r>
              <a:rPr lang="en-US" altLang="ko-KR" dirty="0">
                <a:latin typeface="Spoqa Han Sans Neo" panose="020B0500000000000000" pitchFamily="34" charset="-127"/>
                <a:ea typeface="Spoqa Han Sans Neo" panose="020B0500000000000000" pitchFamily="34" charset="-127"/>
              </a:rPr>
              <a:t>landscapes</a:t>
            </a: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Visualizing the Loss Landscape of Neural Nets </a:t>
            </a:r>
            <a:r>
              <a:rPr lang="en-US" altLang="ko-KR" sz="1000" b="1" i="0" dirty="0">
                <a:effectLst/>
                <a:latin typeface="Spoqa Han Sans Neo" panose="020B0500000000000000" pitchFamily="34" charset="-127"/>
                <a:ea typeface="Spoqa Han Sans Neo" panose="020B0500000000000000" pitchFamily="34" charset="-127"/>
              </a:rPr>
              <a:t>by Li et al. </a:t>
            </a:r>
            <a:r>
              <a:rPr lang="en-US" altLang="ko-KR" sz="1000" b="1" dirty="0">
                <a:latin typeface="Spoqa Han Sans Neo" panose="020B0500000000000000" pitchFamily="34" charset="-127"/>
                <a:ea typeface="Spoqa Han Sans Neo" panose="020B0500000000000000" pitchFamily="34" charset="-127"/>
              </a:rPr>
              <a:t>2017</a:t>
            </a:r>
          </a:p>
        </p:txBody>
      </p:sp>
      <p:pic>
        <p:nvPicPr>
          <p:cNvPr id="4" name="그림 3">
            <a:extLst>
              <a:ext uri="{FF2B5EF4-FFF2-40B4-BE49-F238E27FC236}">
                <a16:creationId xmlns:a16="http://schemas.microsoft.com/office/drawing/2014/main" id="{1854F381-6BA2-04F1-905F-998D47B39F07}"/>
              </a:ext>
            </a:extLst>
          </p:cNvPr>
          <p:cNvPicPr>
            <a:picLocks noChangeAspect="1"/>
          </p:cNvPicPr>
          <p:nvPr/>
        </p:nvPicPr>
        <p:blipFill>
          <a:blip r:embed="rId3"/>
          <a:stretch>
            <a:fillRect/>
          </a:stretch>
        </p:blipFill>
        <p:spPr>
          <a:xfrm>
            <a:off x="1810437" y="1611698"/>
            <a:ext cx="8571125" cy="4507230"/>
          </a:xfrm>
          <a:prstGeom prst="rect">
            <a:avLst/>
          </a:prstGeom>
        </p:spPr>
      </p:pic>
    </p:spTree>
    <p:extLst>
      <p:ext uri="{BB962C8B-B14F-4D97-AF65-F5344CB8AC3E}">
        <p14:creationId xmlns:p14="http://schemas.microsoft.com/office/powerpoint/2010/main" val="2117808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24</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7" y="877203"/>
            <a:ext cx="5295572" cy="462133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과 </a:t>
            </a: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loss landscapes</a:t>
            </a:r>
            <a:r>
              <a:rPr lang="ko-KR" altLang="en-US" dirty="0">
                <a:latin typeface="Spoqa Han Sans Neo" panose="020B0500000000000000" pitchFamily="34" charset="-127"/>
                <a:ea typeface="Spoqa Han Sans Neo" panose="020B0500000000000000" pitchFamily="34" charset="-127"/>
              </a:rPr>
              <a:t>를 비교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가 더 </a:t>
            </a:r>
            <a:r>
              <a:rPr lang="en-US" altLang="ko-KR" dirty="0">
                <a:latin typeface="Spoqa Han Sans Neo" panose="020B0500000000000000" pitchFamily="34" charset="-127"/>
                <a:ea typeface="Spoqa Han Sans Neo" panose="020B0500000000000000" pitchFamily="34" charset="-127"/>
              </a:rPr>
              <a:t>flatten</a:t>
            </a:r>
            <a:r>
              <a:rPr lang="ko-KR" altLang="en-US" dirty="0">
                <a:latin typeface="Spoqa Han Sans Neo" panose="020B0500000000000000" pitchFamily="34" charset="-127"/>
                <a:ea typeface="Spoqa Han Sans Neo" panose="020B0500000000000000" pitchFamily="34" charset="-127"/>
              </a:rPr>
              <a:t>한 </a:t>
            </a:r>
            <a:r>
              <a:rPr lang="en-US" altLang="ko-KR" dirty="0">
                <a:latin typeface="Spoqa Han Sans Neo" panose="020B0500000000000000" pitchFamily="34" charset="-127"/>
                <a:ea typeface="Spoqa Han Sans Neo" panose="020B0500000000000000" pitchFamily="34" charset="-127"/>
              </a:rPr>
              <a:t>loss landscape</a:t>
            </a:r>
            <a:r>
              <a:rPr lang="ko-KR" altLang="en-US" dirty="0">
                <a:latin typeface="Spoqa Han Sans Neo" panose="020B0500000000000000" pitchFamily="34" charset="-127"/>
                <a:ea typeface="Spoqa Han Sans Neo" panose="020B0500000000000000" pitchFamily="34" charset="-127"/>
              </a:rPr>
              <a:t>를 가짐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Hessian</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eigenvalue</a:t>
            </a:r>
            <a:r>
              <a:rPr lang="ko-KR" altLang="en-US" dirty="0">
                <a:latin typeface="Spoqa Han Sans Neo" panose="020B0500000000000000" pitchFamily="34" charset="-127"/>
                <a:ea typeface="Spoqa Han Sans Neo" panose="020B0500000000000000" pitchFamily="34" charset="-127"/>
              </a:rPr>
              <a:t>를 이용하여 모델의 </a:t>
            </a:r>
            <a:r>
              <a:rPr lang="en-US" altLang="ko-KR" dirty="0">
                <a:latin typeface="Spoqa Han Sans Neo" panose="020B0500000000000000" pitchFamily="34" charset="-127"/>
                <a:ea typeface="Spoqa Han Sans Neo" panose="020B0500000000000000" pitchFamily="34" charset="-127"/>
              </a:rPr>
              <a:t>convexity</a:t>
            </a:r>
            <a:r>
              <a:rPr lang="ko-KR" altLang="en-US" dirty="0">
                <a:latin typeface="Spoqa Han Sans Neo" panose="020B0500000000000000" pitchFamily="34" charset="-127"/>
                <a:ea typeface="Spoqa Han Sans Neo" panose="020B0500000000000000" pitchFamily="34" charset="-127"/>
              </a:rPr>
              <a:t>를 측정함</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negative</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Hessian eigenvalue</a:t>
            </a:r>
          </a:p>
          <a:p>
            <a:pPr marL="1257300" lvl="2"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non-convexity</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positive Hessian eigenvalue</a:t>
            </a:r>
          </a:p>
          <a:p>
            <a:pPr marL="1257300" lvl="2"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convexity</a:t>
            </a: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negative &amp; positive</a:t>
            </a:r>
          </a:p>
          <a:p>
            <a:pPr marL="1257300" lvl="2"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saddle point</a:t>
            </a:r>
            <a:r>
              <a:rPr lang="ko-KR" altLang="en-US" dirty="0">
                <a:latin typeface="Spoqa Han Sans Neo" panose="020B0500000000000000" pitchFamily="34" charset="-127"/>
                <a:ea typeface="Spoqa Han Sans Neo" panose="020B0500000000000000" pitchFamily="34" charset="-127"/>
              </a:rPr>
              <a:t>가 존재</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4" name="그림 3">
            <a:extLst>
              <a:ext uri="{FF2B5EF4-FFF2-40B4-BE49-F238E27FC236}">
                <a16:creationId xmlns:a16="http://schemas.microsoft.com/office/drawing/2014/main" id="{CB3B83AB-2A71-75BD-765E-6A4ABA59D5C8}"/>
              </a:ext>
            </a:extLst>
          </p:cNvPr>
          <p:cNvPicPr>
            <a:picLocks noChangeAspect="1"/>
          </p:cNvPicPr>
          <p:nvPr/>
        </p:nvPicPr>
        <p:blipFill>
          <a:blip r:embed="rId3"/>
          <a:stretch>
            <a:fillRect/>
          </a:stretch>
        </p:blipFill>
        <p:spPr>
          <a:xfrm>
            <a:off x="5680019" y="1069895"/>
            <a:ext cx="6511981" cy="4718210"/>
          </a:xfrm>
          <a:prstGeom prst="rect">
            <a:avLst/>
          </a:prstGeom>
        </p:spPr>
      </p:pic>
    </p:spTree>
    <p:extLst>
      <p:ext uri="{BB962C8B-B14F-4D97-AF65-F5344CB8AC3E}">
        <p14:creationId xmlns:p14="http://schemas.microsoft.com/office/powerpoint/2010/main" val="2220118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25</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165869" cy="17102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ViTs</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small data domain</a:t>
            </a:r>
            <a:r>
              <a:rPr lang="ko-KR" altLang="en-US" dirty="0">
                <a:latin typeface="Spoqa Han Sans Neo" panose="020B0500000000000000" pitchFamily="34" charset="-127"/>
                <a:ea typeface="Spoqa Han Sans Neo" panose="020B0500000000000000" pitchFamily="34" charset="-127"/>
              </a:rPr>
              <a:t>에서는 </a:t>
            </a:r>
            <a:r>
              <a:rPr lang="en-US" altLang="ko-KR" dirty="0">
                <a:latin typeface="Spoqa Han Sans Neo" panose="020B0500000000000000" pitchFamily="34" charset="-127"/>
                <a:ea typeface="Spoqa Han Sans Neo" panose="020B0500000000000000" pitchFamily="34" charset="-127"/>
              </a:rPr>
              <a:t>negative Hessian eigenvalue</a:t>
            </a:r>
            <a:r>
              <a:rPr lang="ko-KR" altLang="en-US" dirty="0">
                <a:latin typeface="Spoqa Han Sans Neo" panose="020B0500000000000000" pitchFamily="34" charset="-127"/>
                <a:ea typeface="Spoqa Han Sans Neo" panose="020B0500000000000000" pitchFamily="34" charset="-127"/>
              </a:rPr>
              <a:t>를 가짐</a:t>
            </a:r>
            <a:endParaRPr lang="en-US" altLang="ko-KR" dirty="0">
              <a:latin typeface="Spoqa Han Sans Neo" panose="020B0500000000000000" pitchFamily="34" charset="-127"/>
              <a:ea typeface="Spoqa Han Sans Neo" panose="020B0500000000000000" pitchFamily="34" charset="-127"/>
            </a:endParaRPr>
          </a:p>
          <a:p>
            <a:pPr marL="1257300" lvl="2"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non-convexity</a:t>
            </a:r>
            <a:r>
              <a:rPr lang="ko-KR" altLang="en-US" dirty="0">
                <a:latin typeface="Spoqa Han Sans Neo" panose="020B0500000000000000" pitchFamily="34" charset="-127"/>
                <a:ea typeface="Spoqa Han Sans Neo" panose="020B0500000000000000" pitchFamily="34" charset="-127"/>
              </a:rPr>
              <a:t>로 인해 </a:t>
            </a:r>
            <a:r>
              <a:rPr lang="en-US" altLang="ko-KR" dirty="0">
                <a:latin typeface="Spoqa Han Sans Neo" panose="020B0500000000000000" pitchFamily="34" charset="-127"/>
                <a:ea typeface="Spoqa Han Sans Neo" panose="020B0500000000000000" pitchFamily="34" charset="-127"/>
              </a:rPr>
              <a:t>optimization</a:t>
            </a:r>
            <a:r>
              <a:rPr lang="ko-KR" altLang="en-US" dirty="0">
                <a:latin typeface="Spoqa Han Sans Neo" panose="020B0500000000000000" pitchFamily="34" charset="-127"/>
                <a:ea typeface="Spoqa Han Sans Neo" panose="020B0500000000000000" pitchFamily="34" charset="-127"/>
              </a:rPr>
              <a:t>을 방해</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large data domain</a:t>
            </a:r>
            <a:r>
              <a:rPr lang="ko-KR" altLang="en-US" dirty="0">
                <a:latin typeface="Spoqa Han Sans Neo" panose="020B0500000000000000" pitchFamily="34" charset="-127"/>
                <a:ea typeface="Spoqa Han Sans Neo" panose="020B0500000000000000" pitchFamily="34" charset="-127"/>
              </a:rPr>
              <a:t>에서는 </a:t>
            </a:r>
            <a:r>
              <a:rPr lang="en-US" altLang="ko-KR" dirty="0">
                <a:latin typeface="Spoqa Han Sans Neo" panose="020B0500000000000000" pitchFamily="34" charset="-127"/>
                <a:ea typeface="Spoqa Han Sans Neo" panose="020B0500000000000000" pitchFamily="34" charset="-127"/>
              </a:rPr>
              <a:t>negative</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Hessian</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eigenvalue</a:t>
            </a:r>
            <a:r>
              <a:rPr lang="ko-KR" altLang="en-US" dirty="0">
                <a:latin typeface="Spoqa Han Sans Neo" panose="020B0500000000000000" pitchFamily="34" charset="-127"/>
                <a:ea typeface="Spoqa Han Sans Neo" panose="020B0500000000000000" pitchFamily="34" charset="-127"/>
              </a:rPr>
              <a:t>가 감소</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7" name="그림 6">
            <a:extLst>
              <a:ext uri="{FF2B5EF4-FFF2-40B4-BE49-F238E27FC236}">
                <a16:creationId xmlns:a16="http://schemas.microsoft.com/office/drawing/2014/main" id="{5343B57C-2436-615F-99C9-AD42336A9E24}"/>
              </a:ext>
            </a:extLst>
          </p:cNvPr>
          <p:cNvPicPr>
            <a:picLocks noChangeAspect="1"/>
          </p:cNvPicPr>
          <p:nvPr/>
        </p:nvPicPr>
        <p:blipFill>
          <a:blip r:embed="rId3"/>
          <a:stretch>
            <a:fillRect/>
          </a:stretch>
        </p:blipFill>
        <p:spPr>
          <a:xfrm>
            <a:off x="7832806" y="902368"/>
            <a:ext cx="4145997" cy="5053263"/>
          </a:xfrm>
          <a:prstGeom prst="rect">
            <a:avLst/>
          </a:prstGeom>
        </p:spPr>
      </p:pic>
    </p:spTree>
    <p:extLst>
      <p:ext uri="{BB962C8B-B14F-4D97-AF65-F5344CB8AC3E}">
        <p14:creationId xmlns:p14="http://schemas.microsoft.com/office/powerpoint/2010/main" val="3145655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26</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7" name="그림 6">
            <a:extLst>
              <a:ext uri="{FF2B5EF4-FFF2-40B4-BE49-F238E27FC236}">
                <a16:creationId xmlns:a16="http://schemas.microsoft.com/office/drawing/2014/main" id="{BF25067D-273C-6990-8E65-3E31EBBCB80E}"/>
              </a:ext>
            </a:extLst>
          </p:cNvPr>
          <p:cNvPicPr>
            <a:picLocks noChangeAspect="1"/>
          </p:cNvPicPr>
          <p:nvPr/>
        </p:nvPicPr>
        <p:blipFill>
          <a:blip r:embed="rId3"/>
          <a:stretch>
            <a:fillRect/>
          </a:stretch>
        </p:blipFill>
        <p:spPr>
          <a:xfrm>
            <a:off x="2112233" y="779249"/>
            <a:ext cx="7967533" cy="5832442"/>
          </a:xfrm>
          <a:prstGeom prst="rect">
            <a:avLst/>
          </a:prstGeom>
        </p:spPr>
      </p:pic>
      <p:sp>
        <p:nvSpPr>
          <p:cNvPr id="6" name="TextBox 5">
            <a:extLst>
              <a:ext uri="{FF2B5EF4-FFF2-40B4-BE49-F238E27FC236}">
                <a16:creationId xmlns:a16="http://schemas.microsoft.com/office/drawing/2014/main" id="{2187BFB1-991B-4BC0-BFC7-83F128AC28E2}"/>
              </a:ext>
            </a:extLst>
          </p:cNvPr>
          <p:cNvSpPr txBox="1"/>
          <p:nvPr/>
        </p:nvSpPr>
        <p:spPr>
          <a:xfrm>
            <a:off x="3980924" y="893639"/>
            <a:ext cx="7573878" cy="879215"/>
          </a:xfrm>
          <a:prstGeom prst="rect">
            <a:avLst/>
          </a:prstGeom>
          <a:noFill/>
        </p:spPr>
        <p:txBody>
          <a:bodyPr wrap="square">
            <a:spAutoFit/>
          </a:bodyPr>
          <a:lstStyle/>
          <a:p>
            <a:pPr>
              <a:lnSpc>
                <a:spcPct val="150000"/>
              </a:lnSpc>
            </a:pPr>
            <a:r>
              <a:rPr lang="en-US" altLang="ko-KR" dirty="0" err="1">
                <a:latin typeface="Spoqa Han Sans Neo" panose="020B0500000000000000" pitchFamily="34" charset="-127"/>
                <a:ea typeface="Spoqa Han Sans Neo" panose="020B0500000000000000" pitchFamily="34" charset="-127"/>
              </a:rPr>
              <a:t>ResNet</a:t>
            </a:r>
            <a:r>
              <a:rPr lang="en-US" altLang="ko-KR" dirty="0">
                <a:latin typeface="Spoqa Han Sans Neo" panose="020B0500000000000000" pitchFamily="34" charset="-127"/>
                <a:ea typeface="Spoqa Han Sans Neo" panose="020B0500000000000000" pitchFamily="34" charset="-127"/>
              </a:rPr>
              <a:t>,</a:t>
            </a:r>
            <a:r>
              <a:rPr lang="ko-KR" altLang="en-US"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ViT</a:t>
            </a:r>
            <a:r>
              <a:rPr lang="en-US" altLang="ko-KR"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PiT</a:t>
            </a:r>
            <a:r>
              <a:rPr lang="en-US" altLang="ko-KR"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ViT</a:t>
            </a:r>
            <a:r>
              <a:rPr lang="en-US" altLang="ko-KR" dirty="0">
                <a:latin typeface="Spoqa Han Sans Neo" panose="020B0500000000000000" pitchFamily="34" charset="-127"/>
                <a:ea typeface="Spoqa Han Sans Neo" panose="020B0500000000000000" pitchFamily="34" charset="-127"/>
              </a:rPr>
              <a:t> + multi-stage), </a:t>
            </a:r>
            <a:r>
              <a:rPr lang="en-US" altLang="ko-KR" dirty="0" err="1">
                <a:latin typeface="Spoqa Han Sans Neo" panose="020B0500000000000000" pitchFamily="34" charset="-127"/>
                <a:ea typeface="Spoqa Han Sans Neo" panose="020B0500000000000000" pitchFamily="34" charset="-127"/>
              </a:rPr>
              <a:t>Swin</a:t>
            </a:r>
            <a:r>
              <a:rPr lang="en-US" altLang="ko-KR"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ViT</a:t>
            </a:r>
            <a:r>
              <a:rPr lang="en-US" altLang="ko-KR" dirty="0">
                <a:latin typeface="Spoqa Han Sans Neo" panose="020B0500000000000000" pitchFamily="34" charset="-127"/>
                <a:ea typeface="Spoqa Han Sans Neo" panose="020B0500000000000000" pitchFamily="34" charset="-127"/>
              </a:rPr>
              <a:t> + multi-stage + local MSA)</a:t>
            </a:r>
          </a:p>
          <a:p>
            <a:pPr>
              <a:lnSpc>
                <a:spcPct val="150000"/>
              </a:lnSpc>
            </a:pP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loss</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landscape</a:t>
            </a:r>
            <a:r>
              <a:rPr lang="ko-KR" altLang="en-US" dirty="0">
                <a:latin typeface="Spoqa Han Sans Neo" panose="020B0500000000000000" pitchFamily="34" charset="-127"/>
                <a:ea typeface="Spoqa Han Sans Neo" panose="020B0500000000000000" pitchFamily="34" charset="-127"/>
              </a:rPr>
              <a:t> 및 </a:t>
            </a:r>
            <a:r>
              <a:rPr lang="en-US" altLang="ko-KR" dirty="0">
                <a:latin typeface="Spoqa Han Sans Neo" panose="020B0500000000000000" pitchFamily="34" charset="-127"/>
                <a:ea typeface="Spoqa Han Sans Neo" panose="020B0500000000000000" pitchFamily="34" charset="-127"/>
              </a:rPr>
              <a:t>Hessian eigenvalue</a:t>
            </a:r>
          </a:p>
        </p:txBody>
      </p:sp>
    </p:spTree>
    <p:extLst>
      <p:ext uri="{BB962C8B-B14F-4D97-AF65-F5344CB8AC3E}">
        <p14:creationId xmlns:p14="http://schemas.microsoft.com/office/powerpoint/2010/main" val="3516901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27</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212571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모델들의 </a:t>
            </a:r>
            <a:r>
              <a:rPr lang="en-US" altLang="ko-KR" dirty="0">
                <a:latin typeface="Spoqa Han Sans Neo" panose="020B0500000000000000" pitchFamily="34" charset="-127"/>
                <a:ea typeface="Spoqa Han Sans Neo" panose="020B0500000000000000" pitchFamily="34" charset="-127"/>
              </a:rPr>
              <a:t>test error </a:t>
            </a:r>
            <a:r>
              <a:rPr lang="ko-KR" altLang="en-US" dirty="0">
                <a:latin typeface="Spoqa Han Sans Neo" panose="020B0500000000000000" pitchFamily="34" charset="-127"/>
                <a:ea typeface="Spoqa Han Sans Neo" panose="020B0500000000000000" pitchFamily="34" charset="-127"/>
              </a:rPr>
              <a:t>및 </a:t>
            </a:r>
            <a:r>
              <a:rPr lang="en-US" altLang="ko-KR" dirty="0">
                <a:latin typeface="Spoqa Han Sans Neo" panose="020B0500000000000000" pitchFamily="34" charset="-127"/>
                <a:ea typeface="Spoqa Han Sans Neo" panose="020B0500000000000000" pitchFamily="34" charset="-127"/>
              </a:rPr>
              <a:t>train loss</a:t>
            </a:r>
            <a:r>
              <a:rPr lang="ko-KR" altLang="en-US" dirty="0">
                <a:latin typeface="Spoqa Han Sans Neo" panose="020B0500000000000000" pitchFamily="34" charset="-127"/>
                <a:ea typeface="Spoqa Han Sans Neo" panose="020B0500000000000000" pitchFamily="34" charset="-127"/>
              </a:rPr>
              <a:t>를 비교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일반적으로 </a:t>
            </a:r>
            <a:r>
              <a:rPr lang="en-US" altLang="ko-KR" dirty="0">
                <a:latin typeface="Spoqa Han Sans Neo" panose="020B0500000000000000" pitchFamily="34" charset="-127"/>
                <a:ea typeface="Spoqa Han Sans Neo" panose="020B0500000000000000" pitchFamily="34" charset="-127"/>
              </a:rPr>
              <a:t>small data domain</a:t>
            </a:r>
            <a:r>
              <a:rPr lang="ko-KR" altLang="en-US" dirty="0">
                <a:latin typeface="Spoqa Han Sans Neo" panose="020B0500000000000000" pitchFamily="34" charset="-127"/>
                <a:ea typeface="Spoqa Han Sans Neo" panose="020B0500000000000000" pitchFamily="34" charset="-127"/>
              </a:rPr>
              <a:t>에서 </a:t>
            </a:r>
            <a:r>
              <a:rPr lang="en-US" altLang="ko-KR" dirty="0" err="1">
                <a:latin typeface="Spoqa Han Sans Neo" panose="020B0500000000000000" pitchFamily="34" charset="-127"/>
                <a:ea typeface="Spoqa Han Sans Neo" panose="020B0500000000000000" pitchFamily="34" charset="-127"/>
              </a:rPr>
              <a:t>ViTs</a:t>
            </a:r>
            <a:r>
              <a:rPr lang="ko-KR" altLang="en-US" dirty="0">
                <a:latin typeface="Spoqa Han Sans Neo" panose="020B0500000000000000" pitchFamily="34" charset="-127"/>
                <a:ea typeface="Spoqa Han Sans Neo" panose="020B0500000000000000" pitchFamily="34" charset="-127"/>
              </a:rPr>
              <a:t>는 </a:t>
            </a:r>
            <a:r>
              <a:rPr lang="en-US" altLang="ko-KR" dirty="0">
                <a:latin typeface="Spoqa Han Sans Neo" panose="020B0500000000000000" pitchFamily="34" charset="-127"/>
                <a:ea typeface="Spoqa Han Sans Neo" panose="020B0500000000000000" pitchFamily="34" charset="-127"/>
              </a:rPr>
              <a:t>overfitting </a:t>
            </a:r>
            <a:r>
              <a:rPr lang="ko-KR" altLang="en-US" dirty="0">
                <a:latin typeface="Spoqa Han Sans Neo" panose="020B0500000000000000" pitchFamily="34" charset="-127"/>
                <a:ea typeface="Spoqa Han Sans Neo" panose="020B0500000000000000" pitchFamily="34" charset="-127"/>
              </a:rPr>
              <a:t>된다는 해석이 많으나 그러기에는 </a:t>
            </a:r>
            <a:r>
              <a:rPr lang="en-US" altLang="ko-KR" dirty="0">
                <a:latin typeface="Spoqa Han Sans Neo" panose="020B0500000000000000" pitchFamily="34" charset="-127"/>
                <a:ea typeface="Spoqa Han Sans Neo" panose="020B0500000000000000" pitchFamily="34" charset="-127"/>
              </a:rPr>
              <a:t>test error </a:t>
            </a:r>
            <a:r>
              <a:rPr lang="ko-KR" altLang="en-US" dirty="0">
                <a:latin typeface="Spoqa Han Sans Neo" panose="020B0500000000000000" pitchFamily="34" charset="-127"/>
                <a:ea typeface="Spoqa Han Sans Neo" panose="020B0500000000000000" pitchFamily="34" charset="-127"/>
              </a:rPr>
              <a:t>및 </a:t>
            </a:r>
            <a:r>
              <a:rPr lang="en-US" altLang="ko-KR" dirty="0">
                <a:latin typeface="Spoqa Han Sans Neo" panose="020B0500000000000000" pitchFamily="34" charset="-127"/>
                <a:ea typeface="Spoqa Han Sans Neo" panose="020B0500000000000000" pitchFamily="34" charset="-127"/>
              </a:rPr>
              <a:t>train loss</a:t>
            </a:r>
            <a:r>
              <a:rPr lang="ko-KR" altLang="en-US" dirty="0">
                <a:latin typeface="Spoqa Han Sans Neo" panose="020B0500000000000000" pitchFamily="34" charset="-127"/>
                <a:ea typeface="Spoqa Han Sans Neo" panose="020B0500000000000000" pitchFamily="34" charset="-127"/>
              </a:rPr>
              <a:t>의 값이 큼</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단순히 학습이 잘 안됨</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data domain</a:t>
            </a:r>
            <a:r>
              <a:rPr lang="ko-KR" altLang="en-US" dirty="0">
                <a:latin typeface="Spoqa Han Sans Neo" panose="020B0500000000000000" pitchFamily="34" charset="-127"/>
                <a:ea typeface="Spoqa Han Sans Neo" panose="020B0500000000000000" pitchFamily="34" charset="-127"/>
              </a:rPr>
              <a:t>이 커질수록 </a:t>
            </a:r>
            <a:r>
              <a:rPr lang="en-US" altLang="ko-KR" dirty="0">
                <a:latin typeface="Spoqa Han Sans Neo" panose="020B0500000000000000" pitchFamily="34" charset="-127"/>
                <a:ea typeface="Spoqa Han Sans Neo" panose="020B0500000000000000" pitchFamily="34" charset="-127"/>
              </a:rPr>
              <a:t>test error </a:t>
            </a:r>
            <a:r>
              <a:rPr lang="ko-KR" altLang="en-US" dirty="0">
                <a:latin typeface="Spoqa Han Sans Neo" panose="020B0500000000000000" pitchFamily="34" charset="-127"/>
                <a:ea typeface="Spoqa Han Sans Neo" panose="020B0500000000000000" pitchFamily="34" charset="-127"/>
              </a:rPr>
              <a:t>및 </a:t>
            </a:r>
            <a:r>
              <a:rPr lang="en-US" altLang="ko-KR" dirty="0">
                <a:latin typeface="Spoqa Han Sans Neo" panose="020B0500000000000000" pitchFamily="34" charset="-127"/>
                <a:ea typeface="Spoqa Han Sans Neo" panose="020B0500000000000000" pitchFamily="34" charset="-127"/>
              </a:rPr>
              <a:t>train loss</a:t>
            </a:r>
            <a:r>
              <a:rPr lang="ko-KR" altLang="en-US" dirty="0">
                <a:latin typeface="Spoqa Han Sans Neo" panose="020B0500000000000000" pitchFamily="34" charset="-127"/>
                <a:ea typeface="Spoqa Han Sans Neo" panose="020B0500000000000000" pitchFamily="34" charset="-127"/>
              </a:rPr>
              <a:t>가 감소함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4" name="그림 3">
            <a:extLst>
              <a:ext uri="{FF2B5EF4-FFF2-40B4-BE49-F238E27FC236}">
                <a16:creationId xmlns:a16="http://schemas.microsoft.com/office/drawing/2014/main" id="{15BF4E39-4208-744E-FE12-613734D2A938}"/>
              </a:ext>
            </a:extLst>
          </p:cNvPr>
          <p:cNvPicPr>
            <a:picLocks noChangeAspect="1"/>
          </p:cNvPicPr>
          <p:nvPr/>
        </p:nvPicPr>
        <p:blipFill>
          <a:blip r:embed="rId3"/>
          <a:stretch>
            <a:fillRect/>
          </a:stretch>
        </p:blipFill>
        <p:spPr>
          <a:xfrm>
            <a:off x="1837165" y="3163214"/>
            <a:ext cx="8517670" cy="3280568"/>
          </a:xfrm>
          <a:prstGeom prst="rect">
            <a:avLst/>
          </a:prstGeom>
        </p:spPr>
      </p:pic>
    </p:spTree>
    <p:extLst>
      <p:ext uri="{BB962C8B-B14F-4D97-AF65-F5344CB8AC3E}">
        <p14:creationId xmlns:p14="http://schemas.microsoft.com/office/powerpoint/2010/main" val="2446535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28</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6" y="877203"/>
            <a:ext cx="11009773" cy="254383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feature map</a:t>
            </a:r>
            <a:r>
              <a:rPr lang="ko-KR" altLang="en-US" dirty="0">
                <a:latin typeface="Spoqa Han Sans Neo" panose="020B0500000000000000" pitchFamily="34" charset="-127"/>
                <a:ea typeface="Spoqa Han Sans Neo" panose="020B0500000000000000" pitchFamily="34" charset="-127"/>
              </a:rPr>
              <a:t>의 </a:t>
            </a:r>
            <a:r>
              <a:rPr lang="en-US" altLang="ko-KR" dirty="0">
                <a:latin typeface="Spoqa Han Sans Neo" panose="020B0500000000000000" pitchFamily="34" charset="-127"/>
                <a:ea typeface="Spoqa Han Sans Neo" panose="020B0500000000000000" pitchFamily="34" charset="-127"/>
              </a:rPr>
              <a:t>Fourier transform</a:t>
            </a:r>
            <a:r>
              <a:rPr lang="ko-KR" altLang="en-US" dirty="0">
                <a:latin typeface="Spoqa Han Sans Neo" panose="020B0500000000000000" pitchFamily="34" charset="-127"/>
                <a:ea typeface="Spoqa Han Sans Neo" panose="020B0500000000000000" pitchFamily="34" charset="-127"/>
              </a:rPr>
              <a:t>을 통해 </a:t>
            </a: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과 </a:t>
            </a:r>
            <a:r>
              <a:rPr lang="en-US" altLang="ko-KR" dirty="0" err="1">
                <a:latin typeface="Spoqa Han Sans Neo" panose="020B0500000000000000" pitchFamily="34" charset="-127"/>
                <a:ea typeface="Spoqa Han Sans Neo" panose="020B0500000000000000" pitchFamily="34" charset="-127"/>
              </a:rPr>
              <a:t>ViT</a:t>
            </a:r>
            <a:r>
              <a:rPr lang="ko-KR" altLang="en-US" dirty="0">
                <a:latin typeface="Spoqa Han Sans Neo" panose="020B0500000000000000" pitchFamily="34" charset="-127"/>
                <a:ea typeface="Spoqa Han Sans Neo" panose="020B0500000000000000" pitchFamily="34" charset="-127"/>
              </a:rPr>
              <a:t>를 비교</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a:t>
            </a:r>
            <a:r>
              <a:rPr lang="ko-KR" altLang="en-US" dirty="0">
                <a:latin typeface="Spoqa Han Sans Neo" panose="020B0500000000000000" pitchFamily="34" charset="-127"/>
                <a:ea typeface="Spoqa Han Sans Neo" panose="020B0500000000000000" pitchFamily="34" charset="-127"/>
              </a:rPr>
              <a:t>는 </a:t>
            </a:r>
            <a:r>
              <a:rPr lang="en-US" altLang="ko-KR" dirty="0">
                <a:latin typeface="Spoqa Han Sans Neo" panose="020B0500000000000000" pitchFamily="34" charset="-127"/>
                <a:ea typeface="Spoqa Han Sans Neo" panose="020B0500000000000000" pitchFamily="34" charset="-127"/>
              </a:rPr>
              <a:t>low-pass</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filter,</a:t>
            </a:r>
            <a:r>
              <a:rPr lang="ko-KR" altLang="en-US" dirty="0">
                <a:latin typeface="Spoqa Han Sans Neo" panose="020B0500000000000000" pitchFamily="34" charset="-127"/>
                <a:ea typeface="Spoqa Han Sans Neo" panose="020B0500000000000000" pitchFamily="34" charset="-127"/>
              </a:rPr>
              <a:t> </a:t>
            </a: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은 </a:t>
            </a:r>
            <a:r>
              <a:rPr lang="en-US" altLang="ko-KR" dirty="0">
                <a:latin typeface="Spoqa Han Sans Neo" panose="020B0500000000000000" pitchFamily="34" charset="-127"/>
                <a:ea typeface="Spoqa Han Sans Neo" panose="020B0500000000000000" pitchFamily="34" charset="-127"/>
              </a:rPr>
              <a:t>high-pass filter</a:t>
            </a:r>
            <a:r>
              <a:rPr lang="ko-KR" altLang="en-US" dirty="0">
                <a:latin typeface="Spoqa Han Sans Neo" panose="020B0500000000000000" pitchFamily="34" charset="-127"/>
                <a:ea typeface="Spoqa Han Sans Neo" panose="020B0500000000000000" pitchFamily="34" charset="-127"/>
              </a:rPr>
              <a:t>와 같이 동작</a:t>
            </a: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ViT</a:t>
            </a:r>
            <a:r>
              <a:rPr lang="ko-KR" altLang="en-US" dirty="0">
                <a:latin typeface="Spoqa Han Sans Neo" panose="020B0500000000000000" pitchFamily="34" charset="-127"/>
                <a:ea typeface="Spoqa Han Sans Neo" panose="020B0500000000000000" pitchFamily="34" charset="-127"/>
              </a:rPr>
              <a:t>는 </a:t>
            </a:r>
            <a:r>
              <a:rPr lang="en-US" altLang="ko-KR" dirty="0">
                <a:latin typeface="Spoqa Han Sans Neo" panose="020B0500000000000000" pitchFamily="34" charset="-127"/>
                <a:ea typeface="Spoqa Han Sans Neo" panose="020B0500000000000000" pitchFamily="34" charset="-127"/>
              </a:rPr>
              <a:t>low-pass filter</a:t>
            </a:r>
            <a:r>
              <a:rPr lang="ko-KR" altLang="en-US" dirty="0">
                <a:latin typeface="Spoqa Han Sans Neo" panose="020B0500000000000000" pitchFamily="34" charset="-127"/>
                <a:ea typeface="Spoqa Han Sans Neo" panose="020B0500000000000000" pitchFamily="34" charset="-127"/>
              </a:rPr>
              <a:t>이므로 </a:t>
            </a:r>
            <a:r>
              <a:rPr lang="en-US" altLang="ko-KR" dirty="0">
                <a:latin typeface="Spoqa Han Sans Neo" panose="020B0500000000000000" pitchFamily="34" charset="-127"/>
                <a:ea typeface="Spoqa Han Sans Neo" panose="020B0500000000000000" pitchFamily="34" charset="-127"/>
              </a:rPr>
              <a:t>low frequency</a:t>
            </a:r>
            <a:r>
              <a:rPr lang="ko-KR" altLang="en-US" dirty="0">
                <a:latin typeface="Spoqa Han Sans Neo" panose="020B0500000000000000" pitchFamily="34" charset="-127"/>
                <a:ea typeface="Spoqa Han Sans Neo" panose="020B0500000000000000" pitchFamily="34" charset="-127"/>
              </a:rPr>
              <a:t>에서 생성된 </a:t>
            </a:r>
            <a:r>
              <a:rPr lang="en-US" altLang="ko-KR" dirty="0">
                <a:latin typeface="Spoqa Han Sans Neo" panose="020B0500000000000000" pitchFamily="34" charset="-127"/>
                <a:ea typeface="Spoqa Han Sans Neo" panose="020B0500000000000000" pitchFamily="34" charset="-127"/>
              </a:rPr>
              <a:t>noise</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accuracy</a:t>
            </a:r>
            <a:r>
              <a:rPr lang="ko-KR" altLang="en-US" dirty="0">
                <a:latin typeface="Spoqa Han Sans Neo" panose="020B0500000000000000" pitchFamily="34" charset="-127"/>
                <a:ea typeface="Spoqa Han Sans Neo" panose="020B0500000000000000" pitchFamily="34" charset="-127"/>
              </a:rPr>
              <a:t>가 감소하는 것을 볼 수 있음</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err="1">
                <a:latin typeface="Spoqa Han Sans Neo" panose="020B0500000000000000" pitchFamily="34" charset="-127"/>
                <a:ea typeface="Spoqa Han Sans Neo" panose="020B0500000000000000" pitchFamily="34" charset="-127"/>
              </a:rPr>
              <a:t>ResNet</a:t>
            </a:r>
            <a:r>
              <a:rPr lang="ko-KR" altLang="en-US" dirty="0">
                <a:latin typeface="Spoqa Han Sans Neo" panose="020B0500000000000000" pitchFamily="34" charset="-127"/>
                <a:ea typeface="Spoqa Han Sans Neo" panose="020B0500000000000000" pitchFamily="34" charset="-127"/>
              </a:rPr>
              <a:t>은 약간 일관성이 없고 논문에서도 큰 해석이 없음</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342900"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7" name="그림 6">
            <a:extLst>
              <a:ext uri="{FF2B5EF4-FFF2-40B4-BE49-F238E27FC236}">
                <a16:creationId xmlns:a16="http://schemas.microsoft.com/office/drawing/2014/main" id="{CA377504-18A5-C52F-E5BA-0066E852181D}"/>
              </a:ext>
            </a:extLst>
          </p:cNvPr>
          <p:cNvPicPr>
            <a:picLocks noChangeAspect="1"/>
          </p:cNvPicPr>
          <p:nvPr/>
        </p:nvPicPr>
        <p:blipFill>
          <a:blip r:embed="rId3"/>
          <a:stretch>
            <a:fillRect/>
          </a:stretch>
        </p:blipFill>
        <p:spPr>
          <a:xfrm>
            <a:off x="2281989" y="2564898"/>
            <a:ext cx="7628021" cy="4033508"/>
          </a:xfrm>
          <a:prstGeom prst="rect">
            <a:avLst/>
          </a:prstGeom>
        </p:spPr>
      </p:pic>
    </p:spTree>
    <p:extLst>
      <p:ext uri="{BB962C8B-B14F-4D97-AF65-F5344CB8AC3E}">
        <p14:creationId xmlns:p14="http://schemas.microsoft.com/office/powerpoint/2010/main" val="1025564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E17075A-DC5B-4639-9E01-58DA37D0305B}"/>
              </a:ext>
            </a:extLst>
          </p:cNvPr>
          <p:cNvSpPr>
            <a:spLocks noGrp="1"/>
          </p:cNvSpPr>
          <p:nvPr>
            <p:ph type="sldNum" sz="quarter" idx="12"/>
          </p:nvPr>
        </p:nvSpPr>
        <p:spPr/>
        <p:txBody>
          <a:bodyPr/>
          <a:lstStyle/>
          <a:p>
            <a:fld id="{01EC8151-EB5C-441C-BB12-082644A0AB3E}" type="slidenum">
              <a:rPr lang="ko-KR" altLang="en-US" smtClean="0"/>
              <a:pPr/>
              <a:t>29</a:t>
            </a:fld>
            <a:endParaRPr lang="ko-KR" altLang="en-US" dirty="0"/>
          </a:p>
        </p:txBody>
      </p:sp>
      <p:sp>
        <p:nvSpPr>
          <p:cNvPr id="8" name="TextBox 7">
            <a:extLst>
              <a:ext uri="{FF2B5EF4-FFF2-40B4-BE49-F238E27FC236}">
                <a16:creationId xmlns:a16="http://schemas.microsoft.com/office/drawing/2014/main" id="{41277F26-5605-597D-027C-2E85559215B6}"/>
              </a:ext>
            </a:extLst>
          </p:cNvPr>
          <p:cNvSpPr txBox="1"/>
          <p:nvPr/>
        </p:nvSpPr>
        <p:spPr>
          <a:xfrm>
            <a:off x="237504" y="259594"/>
            <a:ext cx="6805068" cy="553998"/>
          </a:xfrm>
          <a:prstGeom prst="rect">
            <a:avLst/>
          </a:prstGeom>
          <a:noFill/>
        </p:spPr>
        <p:txBody>
          <a:bodyPr wrap="none" rtlCol="0">
            <a:spAutoFit/>
          </a:bodyPr>
          <a:lstStyle/>
          <a:p>
            <a:r>
              <a:rPr lang="en-US" altLang="ko-KR" sz="3000" dirty="0">
                <a:solidFill>
                  <a:srgbClr val="151F6A"/>
                </a:solidFill>
                <a:latin typeface="Spoqa Han Sans Neo Bold" panose="020B0800000000000000" pitchFamily="34" charset="-127"/>
                <a:ea typeface="Spoqa Han Sans Neo Bold" panose="020B0800000000000000" pitchFamily="34" charset="-127"/>
              </a:rPr>
              <a:t>How Do Vision Transformers Work?</a:t>
            </a:r>
            <a:endParaRPr lang="ko-KR" altLang="en-US" sz="3000" dirty="0">
              <a:solidFill>
                <a:srgbClr val="151F6A"/>
              </a:solidFill>
              <a:latin typeface="Spoqa Han Sans Neo Bold" panose="020B0800000000000000" pitchFamily="34" charset="-127"/>
              <a:ea typeface="Spoqa Han Sans Neo Bold" panose="020B0800000000000000" pitchFamily="34" charset="-127"/>
            </a:endParaRPr>
          </a:p>
        </p:txBody>
      </p:sp>
      <p:sp>
        <p:nvSpPr>
          <p:cNvPr id="6" name="TextBox 5">
            <a:extLst>
              <a:ext uri="{FF2B5EF4-FFF2-40B4-BE49-F238E27FC236}">
                <a16:creationId xmlns:a16="http://schemas.microsoft.com/office/drawing/2014/main" id="{2187BFB1-991B-4BC0-BFC7-83F128AC28E2}"/>
              </a:ext>
            </a:extLst>
          </p:cNvPr>
          <p:cNvSpPr txBox="1"/>
          <p:nvPr/>
        </p:nvSpPr>
        <p:spPr>
          <a:xfrm>
            <a:off x="384447" y="877203"/>
            <a:ext cx="6756296" cy="254120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high</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frequency</a:t>
            </a:r>
            <a:r>
              <a:rPr lang="ko-KR" altLang="en-US" dirty="0">
                <a:latin typeface="Spoqa Han Sans Neo" panose="020B0500000000000000" pitchFamily="34" charset="-127"/>
                <a:ea typeface="Spoqa Han Sans Neo" panose="020B0500000000000000" pitchFamily="34" charset="-127"/>
              </a:rPr>
              <a:t>에서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별 </a:t>
            </a:r>
            <a:r>
              <a:rPr lang="en-US" altLang="ko-KR" dirty="0">
                <a:latin typeface="Spoqa Han Sans Neo" panose="020B0500000000000000" pitchFamily="34" charset="-127"/>
                <a:ea typeface="Spoqa Han Sans Neo" panose="020B0500000000000000" pitchFamily="34" charset="-127"/>
              </a:rPr>
              <a:t>Log amplitude</a:t>
            </a:r>
            <a:r>
              <a:rPr lang="ko-KR" altLang="en-US" dirty="0">
                <a:latin typeface="Spoqa Han Sans Neo" panose="020B0500000000000000" pitchFamily="34" charset="-127"/>
                <a:ea typeface="Spoqa Han Sans Neo" panose="020B0500000000000000" pitchFamily="34" charset="-127"/>
              </a:rPr>
              <a:t>의 변화량을 측정</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MSAs</a:t>
            </a:r>
            <a:r>
              <a:rPr lang="ko-KR" altLang="en-US" dirty="0">
                <a:latin typeface="Spoqa Han Sans Neo" panose="020B0500000000000000" pitchFamily="34" charset="-127"/>
                <a:ea typeface="Spoqa Han Sans Neo" panose="020B0500000000000000" pitchFamily="34" charset="-127"/>
              </a:rPr>
              <a:t>는 회색</a:t>
            </a:r>
            <a:r>
              <a:rPr lang="en-US" altLang="ko-KR" dirty="0">
                <a:latin typeface="Spoqa Han Sans Neo" panose="020B0500000000000000" pitchFamily="34" charset="-127"/>
                <a:ea typeface="Spoqa Han Sans Neo" panose="020B0500000000000000" pitchFamily="34" charset="-127"/>
              </a:rPr>
              <a:t>, MLPs</a:t>
            </a:r>
            <a:r>
              <a:rPr lang="ko-KR" altLang="en-US" dirty="0">
                <a:latin typeface="Spoqa Han Sans Neo" panose="020B0500000000000000" pitchFamily="34" charset="-127"/>
                <a:ea typeface="Spoqa Han Sans Neo" panose="020B0500000000000000" pitchFamily="34" charset="-127"/>
              </a:rPr>
              <a:t>는 흰색 영역으로 표시</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en-US" altLang="ko-KR" dirty="0">
                <a:latin typeface="Spoqa Han Sans Neo" panose="020B0500000000000000" pitchFamily="34" charset="-127"/>
                <a:ea typeface="Spoqa Han Sans Neo" panose="020B0500000000000000" pitchFamily="34" charset="-127"/>
              </a:rPr>
              <a:t>lower</a:t>
            </a:r>
            <a:r>
              <a:rPr lang="ko-KR" altLang="en-US" dirty="0">
                <a:latin typeface="Spoqa Han Sans Neo" panose="020B0500000000000000" pitchFamily="34" charset="-127"/>
                <a:ea typeface="Spoqa Han Sans Neo" panose="020B0500000000000000" pitchFamily="34" charset="-127"/>
              </a:rPr>
              <a:t> </a:t>
            </a:r>
            <a:r>
              <a:rPr lang="en-US" altLang="ko-KR" dirty="0">
                <a:latin typeface="Spoqa Han Sans Neo" panose="020B0500000000000000" pitchFamily="34" charset="-127"/>
                <a:ea typeface="Spoqa Han Sans Neo" panose="020B0500000000000000" pitchFamily="34" charset="-127"/>
              </a:rPr>
              <a:t>layer</a:t>
            </a:r>
            <a:r>
              <a:rPr lang="ko-KR" altLang="en-US" dirty="0">
                <a:latin typeface="Spoqa Han Sans Neo" panose="020B0500000000000000" pitchFamily="34" charset="-127"/>
                <a:ea typeface="Spoqa Han Sans Neo" panose="020B0500000000000000" pitchFamily="34" charset="-127"/>
              </a:rPr>
              <a:t>에서는 </a:t>
            </a:r>
            <a:r>
              <a:rPr lang="en-US" altLang="ko-KR" dirty="0" err="1">
                <a:latin typeface="Spoqa Han Sans Neo" panose="020B0500000000000000" pitchFamily="34" charset="-127"/>
                <a:ea typeface="Spoqa Han Sans Neo" panose="020B0500000000000000" pitchFamily="34" charset="-127"/>
              </a:rPr>
              <a:t>ViT</a:t>
            </a:r>
            <a:r>
              <a:rPr lang="ko-KR" altLang="en-US" dirty="0">
                <a:latin typeface="Spoqa Han Sans Neo" panose="020B0500000000000000" pitchFamily="34" charset="-127"/>
                <a:ea typeface="Spoqa Han Sans Neo" panose="020B0500000000000000" pitchFamily="34" charset="-127"/>
              </a:rPr>
              <a:t>가 </a:t>
            </a:r>
            <a:r>
              <a:rPr lang="en-US" altLang="ko-KR" dirty="0">
                <a:latin typeface="Spoqa Han Sans Neo" panose="020B0500000000000000" pitchFamily="34" charset="-127"/>
                <a:ea typeface="Spoqa Han Sans Neo" panose="020B0500000000000000" pitchFamily="34" charset="-127"/>
              </a:rPr>
              <a:t>local</a:t>
            </a:r>
            <a:r>
              <a:rPr lang="ko-KR" altLang="en-US" dirty="0">
                <a:latin typeface="Spoqa Han Sans Neo" panose="020B0500000000000000" pitchFamily="34" charset="-127"/>
                <a:ea typeface="Spoqa Han Sans Neo" panose="020B0500000000000000" pitchFamily="34" charset="-127"/>
              </a:rPr>
              <a:t>한 영역을 학습하기 때문에 </a:t>
            </a:r>
            <a:r>
              <a:rPr lang="en-US" altLang="ko-KR" dirty="0">
                <a:latin typeface="Spoqa Han Sans Neo" panose="020B0500000000000000" pitchFamily="34" charset="-127"/>
                <a:ea typeface="Spoqa Han Sans Neo" panose="020B0500000000000000" pitchFamily="34" charset="-127"/>
              </a:rPr>
              <a:t>CNNs</a:t>
            </a:r>
            <a:r>
              <a:rPr lang="ko-KR" altLang="en-US" dirty="0">
                <a:latin typeface="Spoqa Han Sans Neo" panose="020B0500000000000000" pitchFamily="34" charset="-127"/>
                <a:ea typeface="Spoqa Han Sans Neo" panose="020B0500000000000000" pitchFamily="34" charset="-127"/>
              </a:rPr>
              <a:t> 처럼 </a:t>
            </a:r>
            <a:r>
              <a:rPr lang="en-US" altLang="ko-KR" dirty="0">
                <a:latin typeface="Spoqa Han Sans Neo" panose="020B0500000000000000" pitchFamily="34" charset="-127"/>
                <a:ea typeface="Spoqa Han Sans Neo" panose="020B0500000000000000" pitchFamily="34" charset="-127"/>
              </a:rPr>
              <a:t>high-pass filter</a:t>
            </a:r>
            <a:r>
              <a:rPr lang="ko-KR" altLang="en-US" dirty="0">
                <a:latin typeface="Spoqa Han Sans Neo" panose="020B0500000000000000" pitchFamily="34" charset="-127"/>
                <a:ea typeface="Spoqa Han Sans Neo" panose="020B0500000000000000" pitchFamily="34" charset="-127"/>
              </a:rPr>
              <a:t>로 작동</a:t>
            </a:r>
            <a:endParaRPr lang="en-US" altLang="ko-KR" dirty="0">
              <a:latin typeface="Spoqa Han Sans Neo" panose="020B0500000000000000" pitchFamily="34" charset="-127"/>
              <a:ea typeface="Spoqa Han Sans Neo" panose="020B0500000000000000" pitchFamily="34" charset="-127"/>
            </a:endParaRPr>
          </a:p>
          <a:p>
            <a:pPr marL="800100" lvl="1" indent="-342900">
              <a:lnSpc>
                <a:spcPct val="150000"/>
              </a:lnSpc>
              <a:buFont typeface="Arial" panose="020B0604020202020204" pitchFamily="34" charset="0"/>
              <a:buChar char="•"/>
            </a:pPr>
            <a:r>
              <a:rPr lang="ko-KR" altLang="en-US" dirty="0">
                <a:latin typeface="Spoqa Han Sans Neo" panose="020B0500000000000000" pitchFamily="34" charset="-127"/>
                <a:ea typeface="Spoqa Han Sans Neo" panose="020B0500000000000000" pitchFamily="34" charset="-127"/>
              </a:rPr>
              <a:t>이후에는 회색영역에서 </a:t>
            </a:r>
            <a:r>
              <a:rPr lang="en-US" altLang="ko-KR" dirty="0">
                <a:latin typeface="Spoqa Han Sans Neo" panose="020B0500000000000000" pitchFamily="34" charset="-127"/>
                <a:ea typeface="Spoqa Han Sans Neo" panose="020B0500000000000000" pitchFamily="34" charset="-127"/>
              </a:rPr>
              <a:t>Log amplitude</a:t>
            </a:r>
            <a:r>
              <a:rPr lang="ko-KR" altLang="en-US" dirty="0">
                <a:latin typeface="Spoqa Han Sans Neo" panose="020B0500000000000000" pitchFamily="34" charset="-127"/>
                <a:ea typeface="Spoqa Han Sans Neo" panose="020B0500000000000000" pitchFamily="34" charset="-127"/>
              </a:rPr>
              <a:t>가 감소함</a:t>
            </a:r>
            <a:endParaRPr lang="en-US" altLang="ko-KR" dirty="0">
              <a:latin typeface="Spoqa Han Sans Neo" panose="020B0500000000000000" pitchFamily="34" charset="-127"/>
              <a:ea typeface="Spoqa Han Sans Neo" panose="020B0500000000000000" pitchFamily="34" charset="-127"/>
            </a:endParaRPr>
          </a:p>
        </p:txBody>
      </p:sp>
      <p:sp>
        <p:nvSpPr>
          <p:cNvPr id="5" name="TextBox 4">
            <a:extLst>
              <a:ext uri="{FF2B5EF4-FFF2-40B4-BE49-F238E27FC236}">
                <a16:creationId xmlns:a16="http://schemas.microsoft.com/office/drawing/2014/main" id="{9336F309-8B58-17AC-5759-61FB7A6ECC34}"/>
              </a:ext>
            </a:extLst>
          </p:cNvPr>
          <p:cNvSpPr txBox="1"/>
          <p:nvPr/>
        </p:nvSpPr>
        <p:spPr>
          <a:xfrm>
            <a:off x="0" y="6604084"/>
            <a:ext cx="11009773" cy="253916"/>
          </a:xfrm>
          <a:prstGeom prst="rect">
            <a:avLst/>
          </a:prstGeom>
          <a:noFill/>
        </p:spPr>
        <p:txBody>
          <a:bodyPr wrap="square">
            <a:spAutoFit/>
          </a:bodyPr>
          <a:lstStyle/>
          <a:p>
            <a:r>
              <a:rPr lang="en-US" altLang="ko-KR" sz="1000" b="1" dirty="0">
                <a:latin typeface="Spoqa Han Sans Neo" panose="020B0500000000000000" pitchFamily="34" charset="-127"/>
                <a:ea typeface="Spoqa Han Sans Neo" panose="020B0500000000000000" pitchFamily="34" charset="-127"/>
              </a:rPr>
              <a:t>How Do Vision Transformers Work? </a:t>
            </a:r>
            <a:r>
              <a:rPr lang="en-US" altLang="ko-KR" sz="1000" b="1" i="0" dirty="0">
                <a:effectLst/>
                <a:latin typeface="Spoqa Han Sans Neo" panose="020B0500000000000000" pitchFamily="34" charset="-127"/>
                <a:ea typeface="Spoqa Han Sans Neo" panose="020B0500000000000000" pitchFamily="34" charset="-127"/>
              </a:rPr>
              <a:t>by Park et al. </a:t>
            </a:r>
            <a:r>
              <a:rPr lang="en-US" altLang="ko-KR" sz="1000" b="1" dirty="0">
                <a:latin typeface="Spoqa Han Sans Neo" panose="020B0500000000000000" pitchFamily="34" charset="-127"/>
                <a:ea typeface="Spoqa Han Sans Neo" panose="020B0500000000000000" pitchFamily="34" charset="-127"/>
              </a:rPr>
              <a:t>2022</a:t>
            </a:r>
          </a:p>
        </p:txBody>
      </p:sp>
      <p:pic>
        <p:nvPicPr>
          <p:cNvPr id="9" name="그림 8">
            <a:extLst>
              <a:ext uri="{FF2B5EF4-FFF2-40B4-BE49-F238E27FC236}">
                <a16:creationId xmlns:a16="http://schemas.microsoft.com/office/drawing/2014/main" id="{50F1B359-E523-D272-1947-1EC887F82FDE}"/>
              </a:ext>
            </a:extLst>
          </p:cNvPr>
          <p:cNvPicPr>
            <a:picLocks noChangeAspect="1"/>
          </p:cNvPicPr>
          <p:nvPr/>
        </p:nvPicPr>
        <p:blipFill>
          <a:blip r:embed="rId3"/>
          <a:stretch>
            <a:fillRect/>
          </a:stretch>
        </p:blipFill>
        <p:spPr>
          <a:xfrm>
            <a:off x="6860883" y="877203"/>
            <a:ext cx="5271435" cy="5089071"/>
          </a:xfrm>
          <a:prstGeom prst="rect">
            <a:avLst/>
          </a:prstGeom>
        </p:spPr>
      </p:pic>
    </p:spTree>
    <p:extLst>
      <p:ext uri="{BB962C8B-B14F-4D97-AF65-F5344CB8AC3E}">
        <p14:creationId xmlns:p14="http://schemas.microsoft.com/office/powerpoint/2010/main" val="3136718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694344"/>
      </p:ext>
    </p:extLst>
  </p:cSld>
  <p:clrMapOvr>
    <a:masterClrMapping/>
  </p:clrMapOvr>
</p:sld>
</file>

<file path=ppt/theme/theme1.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18634</TotalTime>
  <Words>1710</Words>
  <Application>Microsoft Office PowerPoint</Application>
  <PresentationFormat>와이드스크린</PresentationFormat>
  <Paragraphs>226</Paragraphs>
  <Slides>30</Slides>
  <Notes>28</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Arial</vt:lpstr>
      <vt:lpstr>맑은 고딕</vt:lpstr>
      <vt:lpstr>Spoqa Han Sans Neo</vt:lpstr>
      <vt:lpstr>Campton-Book</vt:lpstr>
      <vt:lpstr>Spoqa Han Sans Neo Bold</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Park Jeong Yeon</dc:creator>
  <cp:lastModifiedBy>hh lee</cp:lastModifiedBy>
  <cp:revision>570</cp:revision>
  <dcterms:created xsi:type="dcterms:W3CDTF">2021-10-15T04:39:42Z</dcterms:created>
  <dcterms:modified xsi:type="dcterms:W3CDTF">2022-12-15T06:58:20Z</dcterms:modified>
</cp:coreProperties>
</file>